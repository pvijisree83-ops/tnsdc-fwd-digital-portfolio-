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1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9143861" cy="6857895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>
      <p:cViewPr varScale="1">
        <p:scale>
          <a:sx n="84" d="100"/>
          <a:sy n="84" d="100"/>
        </p:scale>
        <p:origin x="0" y="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" name="Text box"/>
          <p:cNvSpPr>
            <a:spLocks noGrp="1"/>
          </p:cNvSpPr>
          <p:nvPr>
            <p:ph type="hdr"/>
          </p:nvPr>
        </p:nvSpPr>
        <p:spPr>
          <a:xfrm rot="0">
            <a:off x="0" y="0"/>
            <a:ext cx="5283200" cy="34448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" name="Text box"/>
          <p:cNvSpPr>
            <a:spLocks noGrp="1"/>
          </p:cNvSpPr>
          <p:nvPr>
            <p:ph type="dt" idx="1"/>
          </p:nvPr>
        </p:nvSpPr>
        <p:spPr>
          <a:xfrm rot="0">
            <a:off x="6905625" y="0"/>
            <a:ext cx="5283200" cy="34448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等线" pitchFamily="0" charset="0"/>
                <a:cs typeface="Calibri" pitchFamily="0" charset="0"/>
              </a:rPr>
              <a:t>8/29/2025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" name="Object"/>
          <p:cNvSpPr>
            <a:spLocks noGrp="1" noChangeAspect="1"/>
          </p:cNvSpPr>
          <p:nvPr>
            <p:ph type="sldImg" idx="2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21" name="Text box"/>
          <p:cNvSpPr>
            <a:spLocks noGrp="1"/>
          </p:cNvSpPr>
          <p:nvPr>
            <p:ph type="body" idx="3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22" name="Text box"/>
          <p:cNvSpPr>
            <a:spLocks noGrp="1"/>
          </p:cNvSpPr>
          <p:nvPr>
            <p:ph type="ftr" idx="4"/>
          </p:nvPr>
        </p:nvSpPr>
        <p:spPr>
          <a:xfrm rot="0">
            <a:off x="0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376149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" name="Object"/>
          <p:cNvSpPr>
            <a:spLocks noGrp="1" noChangeAspect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4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5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358186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4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05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0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455191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5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36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3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906185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3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54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5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622979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0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71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7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659348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6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7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8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38721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3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04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0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642971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9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20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2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138849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4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35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3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108554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8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9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1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2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53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5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064313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22062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2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3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4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5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6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7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8" name="Object"/>
          <p:cNvSpPr>
            <a:spLocks noGrp="1"/>
          </p:cNvSpPr>
          <p:nvPr>
            <p:ph type="sldImg"/>
          </p:nvPr>
        </p:nvSpPr>
        <p:spPr>
          <a:xfrm rot="0">
            <a:off x="4038600" y="857250"/>
            <a:ext cx="4114800" cy="231457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9" name="Text box"/>
          <p:cNvSpPr>
            <a:spLocks noGrp="1"/>
          </p:cNvSpPr>
          <p:nvPr>
            <p:ph type="body" idx="1"/>
          </p:nvPr>
        </p:nvSpPr>
        <p:spPr>
          <a:xfrm rot="0">
            <a:off x="1219200" y="3300412"/>
            <a:ext cx="9753600" cy="27003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70" name="Rectangle"/>
          <p:cNvSpPr>
            <a:spLocks noGrp="1"/>
          </p:cNvSpPr>
          <p:nvPr>
            <p:ph type="sldNum" idx="5"/>
          </p:nvPr>
        </p:nvSpPr>
        <p:spPr>
          <a:xfrm rot="0">
            <a:off x="6905625" y="6513513"/>
            <a:ext cx="5283200" cy="3444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942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846397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36075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411176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955081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091230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544050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762068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964759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008499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235345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297865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曲线"/>
          <p:cNvSpPr>
            <a:spLocks/>
          </p:cNvSpPr>
          <p:nvPr/>
        </p:nvSpPr>
        <p:spPr>
          <a:xfrm rot="0">
            <a:off x="9377426" y="4825"/>
            <a:ext cx="1218563" cy="6853554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596" y="21593"/>
                </a:lnTo>
              </a:path>
            </a:pathLst>
          </a:custGeom>
          <a:noFill/>
          <a:ln w="9525" cmpd="sng" cap="flat">
            <a:solidFill>
              <a:srgbClr val="5FCAEE"/>
            </a:solidFill>
            <a:prstDash val="solid"/>
            <a:round/>
          </a:ln>
        </p:spPr>
      </p:sp>
      <p:sp>
        <p:nvSpPr>
          <p:cNvPr id="24" name="曲线"/>
          <p:cNvSpPr>
            <a:spLocks/>
          </p:cNvSpPr>
          <p:nvPr/>
        </p:nvSpPr>
        <p:spPr>
          <a:xfrm rot="0">
            <a:off x="7448612" y="3694896"/>
            <a:ext cx="4743450" cy="316357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9" y="0"/>
                </a:moveTo>
                <a:lnTo>
                  <a:pt x="0" y="21595"/>
                </a:lnTo>
              </a:path>
            </a:pathLst>
          </a:custGeom>
          <a:noFill/>
          <a:ln w="9525" cmpd="sng" cap="flat">
            <a:solidFill>
              <a:srgbClr val="5FCAEE"/>
            </a:solidFill>
            <a:prstDash val="solid"/>
            <a:round/>
          </a:ln>
        </p:spPr>
      </p:sp>
      <p:sp>
        <p:nvSpPr>
          <p:cNvPr id="25" name="曲线"/>
          <p:cNvSpPr>
            <a:spLocks/>
          </p:cNvSpPr>
          <p:nvPr/>
        </p:nvSpPr>
        <p:spPr>
          <a:xfrm rot="0">
            <a:off x="9182100" y="0"/>
            <a:ext cx="3009898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9" y="0"/>
                </a:moveTo>
                <a:lnTo>
                  <a:pt x="14671" y="0"/>
                </a:lnTo>
                <a:lnTo>
                  <a:pt x="0" y="21599"/>
                </a:lnTo>
                <a:lnTo>
                  <a:pt x="21599" y="21599"/>
                </a:lnTo>
                <a:lnTo>
                  <a:pt x="21599" y="0"/>
                </a:lnTo>
                <a:close/>
              </a:path>
            </a:pathLst>
          </a:custGeom>
          <a:solidFill>
            <a:srgbClr val="5FCAEE">
              <a:alpha val="3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26" name="曲线"/>
          <p:cNvSpPr>
            <a:spLocks/>
          </p:cNvSpPr>
          <p:nvPr/>
        </p:nvSpPr>
        <p:spPr>
          <a:xfrm rot="0">
            <a:off x="9602878" y="0"/>
            <a:ext cx="2589527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4" y="0"/>
                </a:moveTo>
                <a:lnTo>
                  <a:pt x="0" y="0"/>
                </a:lnTo>
                <a:lnTo>
                  <a:pt x="10083" y="21599"/>
                </a:lnTo>
                <a:lnTo>
                  <a:pt x="21594" y="21599"/>
                </a:lnTo>
                <a:lnTo>
                  <a:pt x="21594" y="0"/>
                </a:lnTo>
                <a:close/>
              </a:path>
            </a:pathLst>
          </a:custGeom>
          <a:solidFill>
            <a:srgbClr val="5FCAEE">
              <a:alpha val="2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27" name="曲线"/>
          <p:cNvSpPr>
            <a:spLocks/>
          </p:cNvSpPr>
          <p:nvPr/>
        </p:nvSpPr>
        <p:spPr>
          <a:xfrm rot="0">
            <a:off x="8934450" y="3048000"/>
            <a:ext cx="3257550" cy="3810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17AFE3">
              <a:alpha val="6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28" name="曲线"/>
          <p:cNvSpPr>
            <a:spLocks/>
          </p:cNvSpPr>
          <p:nvPr/>
        </p:nvSpPr>
        <p:spPr>
          <a:xfrm rot="0">
            <a:off x="9337930" y="0"/>
            <a:ext cx="2854323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8" y="0"/>
                </a:moveTo>
                <a:lnTo>
                  <a:pt x="0" y="0"/>
                </a:lnTo>
                <a:lnTo>
                  <a:pt x="18689" y="21599"/>
                </a:lnTo>
                <a:lnTo>
                  <a:pt x="21598" y="21599"/>
                </a:lnTo>
                <a:lnTo>
                  <a:pt x="21598" y="0"/>
                </a:lnTo>
                <a:close/>
              </a:path>
            </a:pathLst>
          </a:custGeom>
          <a:solidFill>
            <a:srgbClr val="17AFE3">
              <a:alpha val="5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29" name="曲线"/>
          <p:cNvSpPr>
            <a:spLocks/>
          </p:cNvSpPr>
          <p:nvPr/>
        </p:nvSpPr>
        <p:spPr>
          <a:xfrm rot="0">
            <a:off x="10896601" y="0"/>
            <a:ext cx="1295400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8" y="0"/>
                </a:moveTo>
                <a:lnTo>
                  <a:pt x="17047" y="0"/>
                </a:lnTo>
                <a:lnTo>
                  <a:pt x="0" y="21599"/>
                </a:lnTo>
                <a:lnTo>
                  <a:pt x="21598" y="21599"/>
                </a:lnTo>
                <a:lnTo>
                  <a:pt x="21598" y="0"/>
                </a:lnTo>
                <a:close/>
              </a:path>
            </a:pathLst>
          </a:custGeom>
          <a:solidFill>
            <a:srgbClr val="2D83C3">
              <a:alpha val="7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30" name="曲线"/>
          <p:cNvSpPr>
            <a:spLocks/>
          </p:cNvSpPr>
          <p:nvPr/>
        </p:nvSpPr>
        <p:spPr>
          <a:xfrm rot="0">
            <a:off x="10936247" y="0"/>
            <a:ext cx="1256027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5" y="0"/>
                </a:moveTo>
                <a:lnTo>
                  <a:pt x="0" y="0"/>
                </a:lnTo>
                <a:lnTo>
                  <a:pt x="19165" y="21599"/>
                </a:lnTo>
                <a:lnTo>
                  <a:pt x="21595" y="21599"/>
                </a:lnTo>
                <a:lnTo>
                  <a:pt x="21595" y="0"/>
                </a:lnTo>
                <a:close/>
              </a:path>
            </a:pathLst>
          </a:custGeom>
          <a:solidFill>
            <a:srgbClr val="226192">
              <a:alpha val="8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31" name="曲线"/>
          <p:cNvSpPr>
            <a:spLocks/>
          </p:cNvSpPr>
          <p:nvPr/>
        </p:nvSpPr>
        <p:spPr>
          <a:xfrm rot="0">
            <a:off x="10372725" y="3590925"/>
            <a:ext cx="1819275" cy="32670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17AFE3">
              <a:alpha val="6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32" name="曲线"/>
          <p:cNvSpPr>
            <a:spLocks/>
          </p:cNvSpPr>
          <p:nvPr/>
        </p:nvSpPr>
        <p:spPr>
          <a:xfrm rot="0">
            <a:off x="0" y="4010025"/>
            <a:ext cx="447674" cy="2847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33" name="Text box"/>
          <p:cNvSpPr>
            <a:spLocks noGrp="1"/>
          </p:cNvSpPr>
          <p:nvPr>
            <p:ph type="title"/>
          </p:nvPr>
        </p:nvSpPr>
        <p:spPr>
          <a:xfrm rot="0">
            <a:off x="3195573" y="2067305"/>
            <a:ext cx="5800851" cy="5181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endParaRPr lang="zh-CN" altLang="en-US" sz="3200" b="0" i="0">
              <a:solidFill>
                <a:schemeClr val="tx1"/>
              </a:solidFill>
              <a:latin typeface="Trebuchet MS" pitchFamily="0" charset="0"/>
              <a:cs typeface="Trebuchet MS" pitchFamily="0" charset="0"/>
            </a:endParaRPr>
          </a:p>
        </p:txBody>
      </p:sp>
      <p:sp>
        <p:nvSpPr>
          <p:cNvPr id="34" name="Text box"/>
          <p:cNvSpPr>
            <a:spLocks noGrp="1"/>
          </p:cNvSpPr>
          <p:nvPr>
            <p:ph type="body" idx="4"/>
          </p:nvPr>
        </p:nvSpPr>
        <p:spPr>
          <a:xfrm rot="0">
            <a:off x="1828800" y="3840480"/>
            <a:ext cx="8534401" cy="17144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endParaRPr lang="zh-CN" altLang="en-US"/>
          </a:p>
        </p:txBody>
      </p:sp>
      <p:sp>
        <p:nvSpPr>
          <p:cNvPr id="35" name="Text box"/>
          <p:cNvSpPr>
            <a:spLocks noGrp="1"/>
          </p:cNvSpPr>
          <p:nvPr>
            <p:ph type="ftr" idx="5"/>
          </p:nvPr>
        </p:nvSpPr>
        <p:spPr>
          <a:xfrm rot="0">
            <a:off x="4145279" y="6377940"/>
            <a:ext cx="3901439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algn="ctr"/>
            <a:endParaRPr lang="zh-CN" altLang="en-US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6" name="Text box"/>
          <p:cNvSpPr>
            <a:spLocks noGrp="1"/>
          </p:cNvSpPr>
          <p:nvPr>
            <p:ph type="dt" idx="6"/>
          </p:nvPr>
        </p:nvSpPr>
        <p:spPr>
          <a:xfrm rot="0">
            <a:off x="609600" y="6377940"/>
            <a:ext cx="280416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algn="l"/>
            <a:r>
              <a:rPr lang="en-US" altLang="zh-CN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Date/Time</a:t>
            </a:r>
            <a:endParaRPr lang="zh-CN" altLang="en-US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7" name="Text box"/>
          <p:cNvSpPr>
            <a:spLocks noGrp="1"/>
          </p:cNvSpPr>
          <p:nvPr>
            <p:ph type="sldNum" idx="7"/>
          </p:nvPr>
        </p:nvSpPr>
        <p:spPr>
          <a:xfrm rot="0">
            <a:off x="11353418" y="6473336"/>
            <a:ext cx="151129" cy="19177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38100" indent="0">
              <a:lnSpc>
                <a:spcPct val="100000"/>
              </a:lnSpc>
              <a:spcBef>
                <a:spcPts val="55"/>
              </a:spcBef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&lt;#&gt;</a:t>
            </a:fld>
            <a:endParaRPr lang="zh-CN" altLang="en-US" sz="1100" b="0" i="0" spc="10">
              <a:solidFill>
                <a:srgbClr val="2D936B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477430"/>
      </p:ext>
    </p:extLst>
  </p:cSld>
  <p:clrMapOvr>
    <a:masterClrMapping/>
  </p:clrMapOvr>
  <p:hf sldNum="0"/>
</p:sldLayout>
</file>

<file path=ppt/slideLayouts/slideLayout13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曲线"/>
          <p:cNvSpPr>
            <a:spLocks/>
          </p:cNvSpPr>
          <p:nvPr/>
        </p:nvSpPr>
        <p:spPr>
          <a:xfrm rot="0">
            <a:off x="9377426" y="4825"/>
            <a:ext cx="1218563" cy="6853554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596" y="21593"/>
                </a:lnTo>
              </a:path>
            </a:pathLst>
          </a:custGeom>
          <a:noFill/>
          <a:ln w="9525" cmpd="sng" cap="flat">
            <a:solidFill>
              <a:srgbClr val="5FCAEE"/>
            </a:solidFill>
            <a:prstDash val="solid"/>
            <a:round/>
          </a:ln>
        </p:spPr>
      </p:sp>
      <p:sp>
        <p:nvSpPr>
          <p:cNvPr id="57" name="曲线"/>
          <p:cNvSpPr>
            <a:spLocks/>
          </p:cNvSpPr>
          <p:nvPr/>
        </p:nvSpPr>
        <p:spPr>
          <a:xfrm rot="0">
            <a:off x="7448612" y="3694896"/>
            <a:ext cx="4743450" cy="316357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9" y="0"/>
                </a:moveTo>
                <a:lnTo>
                  <a:pt x="0" y="21595"/>
                </a:lnTo>
              </a:path>
            </a:pathLst>
          </a:custGeom>
          <a:noFill/>
          <a:ln w="9525" cmpd="sng" cap="flat">
            <a:solidFill>
              <a:srgbClr val="5FCAEE"/>
            </a:solidFill>
            <a:prstDash val="solid"/>
            <a:round/>
          </a:ln>
        </p:spPr>
      </p:sp>
      <p:sp>
        <p:nvSpPr>
          <p:cNvPr id="58" name="曲线"/>
          <p:cNvSpPr>
            <a:spLocks/>
          </p:cNvSpPr>
          <p:nvPr/>
        </p:nvSpPr>
        <p:spPr>
          <a:xfrm rot="0">
            <a:off x="9182100" y="0"/>
            <a:ext cx="3009898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9" y="0"/>
                </a:moveTo>
                <a:lnTo>
                  <a:pt x="14671" y="0"/>
                </a:lnTo>
                <a:lnTo>
                  <a:pt x="0" y="21599"/>
                </a:lnTo>
                <a:lnTo>
                  <a:pt x="21599" y="21599"/>
                </a:lnTo>
                <a:lnTo>
                  <a:pt x="21599" y="0"/>
                </a:lnTo>
                <a:close/>
              </a:path>
            </a:pathLst>
          </a:custGeom>
          <a:solidFill>
            <a:srgbClr val="5FCAEE">
              <a:alpha val="3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59" name="曲线"/>
          <p:cNvSpPr>
            <a:spLocks/>
          </p:cNvSpPr>
          <p:nvPr/>
        </p:nvSpPr>
        <p:spPr>
          <a:xfrm rot="0">
            <a:off x="9602878" y="0"/>
            <a:ext cx="2589527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4" y="0"/>
                </a:moveTo>
                <a:lnTo>
                  <a:pt x="0" y="0"/>
                </a:lnTo>
                <a:lnTo>
                  <a:pt x="10083" y="21599"/>
                </a:lnTo>
                <a:lnTo>
                  <a:pt x="21594" y="21599"/>
                </a:lnTo>
                <a:lnTo>
                  <a:pt x="21594" y="0"/>
                </a:lnTo>
                <a:close/>
              </a:path>
            </a:pathLst>
          </a:custGeom>
          <a:solidFill>
            <a:srgbClr val="5FCAEE">
              <a:alpha val="2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60" name="曲线"/>
          <p:cNvSpPr>
            <a:spLocks/>
          </p:cNvSpPr>
          <p:nvPr/>
        </p:nvSpPr>
        <p:spPr>
          <a:xfrm rot="0">
            <a:off x="8934450" y="3048000"/>
            <a:ext cx="3257550" cy="3810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17AFE3">
              <a:alpha val="6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61" name="曲线"/>
          <p:cNvSpPr>
            <a:spLocks/>
          </p:cNvSpPr>
          <p:nvPr/>
        </p:nvSpPr>
        <p:spPr>
          <a:xfrm rot="0">
            <a:off x="9337930" y="0"/>
            <a:ext cx="2854323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8" y="0"/>
                </a:moveTo>
                <a:lnTo>
                  <a:pt x="0" y="0"/>
                </a:lnTo>
                <a:lnTo>
                  <a:pt x="18689" y="21599"/>
                </a:lnTo>
                <a:lnTo>
                  <a:pt x="21598" y="21599"/>
                </a:lnTo>
                <a:lnTo>
                  <a:pt x="21598" y="0"/>
                </a:lnTo>
                <a:close/>
              </a:path>
            </a:pathLst>
          </a:custGeom>
          <a:solidFill>
            <a:srgbClr val="17AFE3">
              <a:alpha val="5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62" name="曲线"/>
          <p:cNvSpPr>
            <a:spLocks/>
          </p:cNvSpPr>
          <p:nvPr/>
        </p:nvSpPr>
        <p:spPr>
          <a:xfrm rot="0">
            <a:off x="10896601" y="0"/>
            <a:ext cx="1295400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8" y="0"/>
                </a:moveTo>
                <a:lnTo>
                  <a:pt x="17047" y="0"/>
                </a:lnTo>
                <a:lnTo>
                  <a:pt x="0" y="21599"/>
                </a:lnTo>
                <a:lnTo>
                  <a:pt x="21598" y="21599"/>
                </a:lnTo>
                <a:lnTo>
                  <a:pt x="21598" y="0"/>
                </a:lnTo>
                <a:close/>
              </a:path>
            </a:pathLst>
          </a:custGeom>
          <a:solidFill>
            <a:srgbClr val="2D83C3">
              <a:alpha val="7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63" name="曲线"/>
          <p:cNvSpPr>
            <a:spLocks/>
          </p:cNvSpPr>
          <p:nvPr/>
        </p:nvSpPr>
        <p:spPr>
          <a:xfrm rot="0">
            <a:off x="10936247" y="0"/>
            <a:ext cx="1256027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5" y="0"/>
                </a:moveTo>
                <a:lnTo>
                  <a:pt x="0" y="0"/>
                </a:lnTo>
                <a:lnTo>
                  <a:pt x="19165" y="21599"/>
                </a:lnTo>
                <a:lnTo>
                  <a:pt x="21595" y="21599"/>
                </a:lnTo>
                <a:lnTo>
                  <a:pt x="21595" y="0"/>
                </a:lnTo>
                <a:close/>
              </a:path>
            </a:pathLst>
          </a:custGeom>
          <a:solidFill>
            <a:srgbClr val="226192">
              <a:alpha val="8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64" name="曲线"/>
          <p:cNvSpPr>
            <a:spLocks/>
          </p:cNvSpPr>
          <p:nvPr/>
        </p:nvSpPr>
        <p:spPr>
          <a:xfrm rot="0">
            <a:off x="10372725" y="3590925"/>
            <a:ext cx="1819275" cy="32670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17AFE3">
              <a:alpha val="6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65" name="曲线"/>
          <p:cNvSpPr>
            <a:spLocks/>
          </p:cNvSpPr>
          <p:nvPr/>
        </p:nvSpPr>
        <p:spPr>
          <a:xfrm rot="0">
            <a:off x="0" y="4010025"/>
            <a:ext cx="447674" cy="2847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66" name="Text box"/>
          <p:cNvSpPr>
            <a:spLocks noGrp="1"/>
          </p:cNvSpPr>
          <p:nvPr>
            <p:ph type="title"/>
          </p:nvPr>
        </p:nvSpPr>
        <p:spPr>
          <a:xfrm rot="0">
            <a:off x="755332" y="385444"/>
            <a:ext cx="10681335" cy="7581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endParaRPr lang="zh-CN" altLang="en-US" sz="4800" b="1" i="0">
              <a:solidFill>
                <a:schemeClr val="tx1"/>
              </a:solidFill>
              <a:latin typeface="Trebuchet MS" pitchFamily="0" charset="0"/>
              <a:cs typeface="Trebuchet MS" pitchFamily="0" charset="0"/>
            </a:endParaRPr>
          </a:p>
        </p:txBody>
      </p:sp>
      <p:sp>
        <p:nvSpPr>
          <p:cNvPr id="67" name="Text box"/>
          <p:cNvSpPr>
            <a:spLocks noGrp="1"/>
          </p:cNvSpPr>
          <p:nvPr>
            <p:ph type="ftr" idx="5"/>
          </p:nvPr>
        </p:nvSpPr>
        <p:spPr>
          <a:xfrm rot="0">
            <a:off x="4145279" y="6377940"/>
            <a:ext cx="3901439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algn="ctr"/>
            <a:endParaRPr lang="zh-CN" altLang="en-US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8" name="Text box"/>
          <p:cNvSpPr>
            <a:spLocks noGrp="1"/>
          </p:cNvSpPr>
          <p:nvPr>
            <p:ph type="dt" idx="6"/>
          </p:nvPr>
        </p:nvSpPr>
        <p:spPr>
          <a:xfrm rot="0">
            <a:off x="609600" y="6377940"/>
            <a:ext cx="280416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algn="l"/>
            <a:r>
              <a:rPr lang="en-US" altLang="zh-CN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Date/Time</a:t>
            </a:r>
            <a:endParaRPr lang="zh-CN" altLang="en-US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9" name="Text box"/>
          <p:cNvSpPr>
            <a:spLocks noGrp="1"/>
          </p:cNvSpPr>
          <p:nvPr>
            <p:ph type="sldNum" idx="7"/>
          </p:nvPr>
        </p:nvSpPr>
        <p:spPr>
          <a:xfrm rot="0">
            <a:off x="11353418" y="6473336"/>
            <a:ext cx="151129" cy="19177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38100" indent="0">
              <a:lnSpc>
                <a:spcPct val="100000"/>
              </a:lnSpc>
              <a:spcBef>
                <a:spcPts val="55"/>
              </a:spcBef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&lt;#&gt;</a:t>
            </a:fld>
            <a:endParaRPr lang="zh-CN" altLang="en-US" sz="1100" b="0" i="0" spc="10">
              <a:solidFill>
                <a:srgbClr val="2D936B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896216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曲线"/>
          <p:cNvSpPr>
            <a:spLocks/>
          </p:cNvSpPr>
          <p:nvPr/>
        </p:nvSpPr>
        <p:spPr>
          <a:xfrm rot="0">
            <a:off x="9377426" y="4825"/>
            <a:ext cx="1218563" cy="6853554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596" y="21593"/>
                </a:lnTo>
              </a:path>
            </a:pathLst>
          </a:custGeom>
          <a:noFill/>
          <a:ln w="9525" cmpd="sng" cap="flat">
            <a:solidFill>
              <a:srgbClr val="5FCAEE"/>
            </a:solidFill>
            <a:prstDash val="solid"/>
            <a:round/>
          </a:ln>
        </p:spPr>
      </p:sp>
      <p:sp>
        <p:nvSpPr>
          <p:cNvPr id="3" name="曲线"/>
          <p:cNvSpPr>
            <a:spLocks/>
          </p:cNvSpPr>
          <p:nvPr/>
        </p:nvSpPr>
        <p:spPr>
          <a:xfrm rot="0">
            <a:off x="7448612" y="3694896"/>
            <a:ext cx="4743450" cy="316357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9" y="0"/>
                </a:moveTo>
                <a:lnTo>
                  <a:pt x="0" y="21595"/>
                </a:lnTo>
              </a:path>
            </a:pathLst>
          </a:custGeom>
          <a:noFill/>
          <a:ln w="9525" cmpd="sng" cap="flat">
            <a:solidFill>
              <a:srgbClr val="5FCAEE"/>
            </a:solidFill>
            <a:prstDash val="solid"/>
            <a:round/>
          </a:ln>
        </p:spPr>
      </p:sp>
      <p:sp>
        <p:nvSpPr>
          <p:cNvPr id="4" name="曲线"/>
          <p:cNvSpPr>
            <a:spLocks/>
          </p:cNvSpPr>
          <p:nvPr/>
        </p:nvSpPr>
        <p:spPr>
          <a:xfrm rot="0">
            <a:off x="9182100" y="0"/>
            <a:ext cx="3009898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9" y="0"/>
                </a:moveTo>
                <a:lnTo>
                  <a:pt x="14671" y="0"/>
                </a:lnTo>
                <a:lnTo>
                  <a:pt x="0" y="21599"/>
                </a:lnTo>
                <a:lnTo>
                  <a:pt x="21599" y="21599"/>
                </a:lnTo>
                <a:lnTo>
                  <a:pt x="21599" y="0"/>
                </a:lnTo>
                <a:close/>
              </a:path>
            </a:pathLst>
          </a:custGeom>
          <a:solidFill>
            <a:srgbClr val="5FCAEE">
              <a:alpha val="3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5" name="曲线"/>
          <p:cNvSpPr>
            <a:spLocks/>
          </p:cNvSpPr>
          <p:nvPr/>
        </p:nvSpPr>
        <p:spPr>
          <a:xfrm rot="0">
            <a:off x="9602878" y="0"/>
            <a:ext cx="2589527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4" y="0"/>
                </a:moveTo>
                <a:lnTo>
                  <a:pt x="0" y="0"/>
                </a:lnTo>
                <a:lnTo>
                  <a:pt x="10083" y="21599"/>
                </a:lnTo>
                <a:lnTo>
                  <a:pt x="21594" y="21599"/>
                </a:lnTo>
                <a:lnTo>
                  <a:pt x="21594" y="0"/>
                </a:lnTo>
                <a:close/>
              </a:path>
            </a:pathLst>
          </a:custGeom>
          <a:solidFill>
            <a:srgbClr val="5FCAEE">
              <a:alpha val="2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6" name="曲线"/>
          <p:cNvSpPr>
            <a:spLocks/>
          </p:cNvSpPr>
          <p:nvPr/>
        </p:nvSpPr>
        <p:spPr>
          <a:xfrm rot="0">
            <a:off x="8934450" y="3048000"/>
            <a:ext cx="3257550" cy="3810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17AFE3">
              <a:alpha val="6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7" name="曲线"/>
          <p:cNvSpPr>
            <a:spLocks/>
          </p:cNvSpPr>
          <p:nvPr/>
        </p:nvSpPr>
        <p:spPr>
          <a:xfrm rot="0">
            <a:off x="9337930" y="0"/>
            <a:ext cx="2854323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8" y="0"/>
                </a:moveTo>
                <a:lnTo>
                  <a:pt x="0" y="0"/>
                </a:lnTo>
                <a:lnTo>
                  <a:pt x="18689" y="21599"/>
                </a:lnTo>
                <a:lnTo>
                  <a:pt x="21598" y="21599"/>
                </a:lnTo>
                <a:lnTo>
                  <a:pt x="21598" y="0"/>
                </a:lnTo>
                <a:close/>
              </a:path>
            </a:pathLst>
          </a:custGeom>
          <a:solidFill>
            <a:srgbClr val="17AFE3">
              <a:alpha val="5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8" name="曲线"/>
          <p:cNvSpPr>
            <a:spLocks/>
          </p:cNvSpPr>
          <p:nvPr/>
        </p:nvSpPr>
        <p:spPr>
          <a:xfrm rot="0">
            <a:off x="10896601" y="0"/>
            <a:ext cx="1295400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8" y="0"/>
                </a:moveTo>
                <a:lnTo>
                  <a:pt x="17047" y="0"/>
                </a:lnTo>
                <a:lnTo>
                  <a:pt x="0" y="21599"/>
                </a:lnTo>
                <a:lnTo>
                  <a:pt x="21598" y="21599"/>
                </a:lnTo>
                <a:lnTo>
                  <a:pt x="21598" y="0"/>
                </a:lnTo>
                <a:close/>
              </a:path>
            </a:pathLst>
          </a:custGeom>
          <a:solidFill>
            <a:srgbClr val="2D83C3">
              <a:alpha val="7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9" name="曲线"/>
          <p:cNvSpPr>
            <a:spLocks/>
          </p:cNvSpPr>
          <p:nvPr/>
        </p:nvSpPr>
        <p:spPr>
          <a:xfrm rot="0">
            <a:off x="10936247" y="0"/>
            <a:ext cx="1256027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5" y="0"/>
                </a:moveTo>
                <a:lnTo>
                  <a:pt x="0" y="0"/>
                </a:lnTo>
                <a:lnTo>
                  <a:pt x="19165" y="21599"/>
                </a:lnTo>
                <a:lnTo>
                  <a:pt x="21595" y="21599"/>
                </a:lnTo>
                <a:lnTo>
                  <a:pt x="21595" y="0"/>
                </a:lnTo>
                <a:close/>
              </a:path>
            </a:pathLst>
          </a:custGeom>
          <a:solidFill>
            <a:srgbClr val="226192">
              <a:alpha val="8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10" name="曲线"/>
          <p:cNvSpPr>
            <a:spLocks/>
          </p:cNvSpPr>
          <p:nvPr/>
        </p:nvSpPr>
        <p:spPr>
          <a:xfrm rot="0">
            <a:off x="10372725" y="3590925"/>
            <a:ext cx="1819275" cy="32670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17AFE3">
              <a:alpha val="66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11" name="曲线"/>
          <p:cNvSpPr>
            <a:spLocks/>
          </p:cNvSpPr>
          <p:nvPr/>
        </p:nvSpPr>
        <p:spPr>
          <a:xfrm rot="0">
            <a:off x="0" y="4010025"/>
            <a:ext cx="447674" cy="2847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12" name="Text box"/>
          <p:cNvSpPr>
            <a:spLocks noGrp="1"/>
          </p:cNvSpPr>
          <p:nvPr>
            <p:ph type="title"/>
          </p:nvPr>
        </p:nvSpPr>
        <p:spPr>
          <a:xfrm rot="0">
            <a:off x="755332" y="385444"/>
            <a:ext cx="10681335" cy="7581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endParaRPr lang="zh-CN" altLang="en-US" sz="4800" b="1" i="0">
              <a:solidFill>
                <a:schemeClr val="tx1"/>
              </a:solidFill>
              <a:latin typeface="Trebuchet MS" pitchFamily="0" charset="0"/>
              <a:cs typeface="Trebuchet MS" pitchFamily="0" charset="0"/>
            </a:endParaRPr>
          </a:p>
        </p:txBody>
      </p:sp>
      <p:sp>
        <p:nvSpPr>
          <p:cNvPr id="13" name="Text box"/>
          <p:cNvSpPr>
            <a:spLocks noGrp="1"/>
          </p:cNvSpPr>
          <p:nvPr>
            <p:ph type="body" idx="1"/>
          </p:nvPr>
        </p:nvSpPr>
        <p:spPr>
          <a:xfrm rot="0">
            <a:off x="609600" y="1577340"/>
            <a:ext cx="10972800" cy="45262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endParaRPr lang="zh-CN" altLang="en-US"/>
          </a:p>
        </p:txBody>
      </p:sp>
      <p:sp>
        <p:nvSpPr>
          <p:cNvPr id="14" name="Text box"/>
          <p:cNvSpPr>
            <a:spLocks noGrp="1"/>
          </p:cNvSpPr>
          <p:nvPr>
            <p:ph type="ftr" idx="5"/>
          </p:nvPr>
        </p:nvSpPr>
        <p:spPr>
          <a:xfrm rot="0">
            <a:off x="4145279" y="6377940"/>
            <a:ext cx="3901439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algn="ctr"/>
            <a:endParaRPr lang="zh-CN" altLang="en-US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" name="Text box"/>
          <p:cNvSpPr>
            <a:spLocks noGrp="1"/>
          </p:cNvSpPr>
          <p:nvPr>
            <p:ph type="dt" idx="6"/>
          </p:nvPr>
        </p:nvSpPr>
        <p:spPr>
          <a:xfrm rot="0">
            <a:off x="609600" y="6377940"/>
            <a:ext cx="2804160" cy="3429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algn="l"/>
            <a:fld id="{CAD2D6BD-DE1B-4B5F-8B41-2702339687B9}" type="datetime1">
              <a:rPr lang="en-US" altLang="zh-CN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8/29/2025</a:t>
            </a:fld>
            <a:endParaRPr lang="zh-CN" altLang="en-US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" name="Text box"/>
          <p:cNvSpPr>
            <a:spLocks noGrp="1"/>
          </p:cNvSpPr>
          <p:nvPr>
            <p:ph type="sldNum" idx="7"/>
          </p:nvPr>
        </p:nvSpPr>
        <p:spPr>
          <a:xfrm rot="0">
            <a:off x="11353418" y="6473336"/>
            <a:ext cx="151129" cy="19177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38100" indent="0">
              <a:lnSpc>
                <a:spcPct val="100000"/>
              </a:lnSpc>
              <a:spcBef>
                <a:spcPts val="55"/>
              </a:spcBef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&lt;#&gt;</a:t>
            </a:fld>
            <a:endParaRPr lang="zh-CN" altLang="en-US" sz="1100" b="0" i="0" spc="10">
              <a:solidFill>
                <a:srgbClr val="2D936B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070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lvl1pPr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1pPr>
      <a:lvl2pPr marL="4572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2pPr>
      <a:lvl3pPr marL="9144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3pPr>
      <a:lvl4pPr marL="13716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4pPr>
      <a:lvl5pPr marL="18288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5pPr>
      <a:lvl6pPr marL="22860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6pPr>
      <a:lvl7pPr marL="27432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7pPr>
      <a:lvl8pPr marL="32004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8pPr>
      <a:lvl9pPr marL="3200400" indent="0" defTabSz="914400" fontAlgn="auto" hangingPunct="1">
        <a:buNone/>
        <a:defRPr sz="1800"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image" Target="../media/2.png"/><Relationship Id="rId3" Type="http://schemas.openxmlformats.org/officeDocument/2006/relationships/image" Target="../media/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4.png"/><Relationship Id="rId2" Type="http://schemas.openxmlformats.org/officeDocument/2006/relationships/image" Target="../media/2.png"/><Relationship Id="rId3" Type="http://schemas.openxmlformats.org/officeDocument/2006/relationships/image" Target="../media/5.jp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3.png"/><Relationship Id="rId2" Type="http://schemas.openxmlformats.org/officeDocument/2006/relationships/image" Target="../media/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6.png"/><Relationship Id="rId2" Type="http://schemas.openxmlformats.org/officeDocument/2006/relationships/image" Target="../media/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8.jpg"/><Relationship Id="rId2" Type="http://schemas.openxmlformats.org/officeDocument/2006/relationships/image" Target="../media/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9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10.jpg"/><Relationship Id="rId2" Type="http://schemas.openxmlformats.org/officeDocument/2006/relationships/image" Target="../media/11.jp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12.jpg"/><Relationship Id="rId2" Type="http://schemas.openxmlformats.org/officeDocument/2006/relationships/image" Target="../media/13.jpg"/><Relationship Id="rId3" Type="http://schemas.openxmlformats.org/officeDocument/2006/relationships/image" Target="../media/14.jp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Combination"/>
          <p:cNvGrpSpPr>
            <a:grpSpLocks/>
          </p:cNvGrpSpPr>
          <p:nvPr/>
        </p:nvGrpSpPr>
        <p:grpSpPr>
          <a:xfrm>
            <a:off x="876298" y="990599"/>
            <a:ext cx="1743074" cy="1333500"/>
            <a:chOff x="876298" y="990599"/>
            <a:chExt cx="1743074" cy="1333500"/>
          </a:xfrm>
        </p:grpSpPr>
        <p:sp>
          <p:nvSpPr>
            <p:cNvPr id="38" name="曲线"/>
            <p:cNvSpPr>
              <a:spLocks/>
            </p:cNvSpPr>
            <p:nvPr/>
          </p:nvSpPr>
          <p:spPr>
            <a:xfrm rot="0">
              <a:off x="876298" y="1266824"/>
              <a:ext cx="1228725" cy="10572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954" y="0"/>
                  </a:moveTo>
                  <a:lnTo>
                    <a:pt x="4646" y="0"/>
                  </a:lnTo>
                  <a:lnTo>
                    <a:pt x="0" y="10801"/>
                  </a:lnTo>
                  <a:lnTo>
                    <a:pt x="4646" y="21600"/>
                  </a:lnTo>
                  <a:lnTo>
                    <a:pt x="16954" y="21600"/>
                  </a:lnTo>
                  <a:lnTo>
                    <a:pt x="21599" y="10801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39" name="曲线"/>
            <p:cNvSpPr>
              <a:spLocks/>
            </p:cNvSpPr>
            <p:nvPr/>
          </p:nvSpPr>
          <p:spPr>
            <a:xfrm rot="0">
              <a:off x="1971672" y="990599"/>
              <a:ext cx="647700" cy="56197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915" y="0"/>
                  </a:moveTo>
                  <a:lnTo>
                    <a:pt x="4684" y="0"/>
                  </a:lnTo>
                  <a:lnTo>
                    <a:pt x="0" y="10797"/>
                  </a:lnTo>
                  <a:lnTo>
                    <a:pt x="4684" y="21600"/>
                  </a:lnTo>
                  <a:lnTo>
                    <a:pt x="16915" y="21600"/>
                  </a:lnTo>
                  <a:lnTo>
                    <a:pt x="21600" y="10797"/>
                  </a:lnTo>
                  <a:lnTo>
                    <a:pt x="16915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41" name="曲线"/>
          <p:cNvSpPr>
            <a:spLocks/>
          </p:cNvSpPr>
          <p:nvPr/>
        </p:nvSpPr>
        <p:spPr>
          <a:xfrm rot="0">
            <a:off x="3752849" y="1190625"/>
            <a:ext cx="1666874" cy="14382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6937" y="0"/>
                </a:moveTo>
                <a:lnTo>
                  <a:pt x="4658" y="0"/>
                </a:lnTo>
                <a:lnTo>
                  <a:pt x="0" y="10798"/>
                </a:lnTo>
                <a:lnTo>
                  <a:pt x="4658" y="21600"/>
                </a:lnTo>
                <a:lnTo>
                  <a:pt x="16937" y="21600"/>
                </a:lnTo>
                <a:lnTo>
                  <a:pt x="21600" y="10798"/>
                </a:lnTo>
                <a:lnTo>
                  <a:pt x="16937" y="0"/>
                </a:lnTo>
                <a:close/>
              </a:path>
            </a:pathLst>
          </a:custGeom>
          <a:solidFill>
            <a:srgbClr val="42D0A1"/>
          </a:solidFill>
          <a:ln cmpd="sng" cap="flat">
            <a:noFill/>
            <a:prstDash val="solid"/>
            <a:miter/>
          </a:ln>
        </p:spPr>
      </p:sp>
      <p:sp>
        <p:nvSpPr>
          <p:cNvPr id="42" name="Text box"/>
          <p:cNvSpPr>
            <a:spLocks noGrp="1"/>
          </p:cNvSpPr>
          <p:nvPr>
            <p:ph type="ctrTitle"/>
          </p:nvPr>
        </p:nvSpPr>
        <p:spPr>
          <a:xfrm rot="0">
            <a:off x="3753635" y="153012"/>
            <a:ext cx="5903723" cy="8356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5400" b="1" i="0" u="sng" strike="noStrike" kern="0" cap="none" spc="15" baseline="0">
                <a:solidFill>
                  <a:srgbClr val="A658DF"/>
                </a:solidFill>
                <a:latin typeface="Roboto" pitchFamily="2" charset="0"/>
                <a:ea typeface="宋体" pitchFamily="0" charset="0"/>
                <a:cs typeface="Trebuchet MS" pitchFamily="0" charset="0"/>
              </a:rPr>
              <a:t>Digital Portfolio </a:t>
            </a:r>
            <a:endParaRPr lang="zh-CN" altLang="en-US" sz="5400" b="1" i="0" u="sng" strike="noStrike" kern="0" cap="none" spc="15" baseline="0">
              <a:solidFill>
                <a:srgbClr val="A658DF"/>
              </a:solidFill>
              <a:latin typeface="Roboto" pitchFamily="2" charset="0"/>
              <a:ea typeface="宋体" pitchFamily="0" charset="0"/>
              <a:cs typeface="Trebuchet MS" pitchFamily="0" charset="0"/>
            </a:endParaRPr>
          </a:p>
        </p:txBody>
      </p:sp>
      <p:pic>
        <p:nvPicPr>
          <p:cNvPr id="43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676275" y="6467475"/>
            <a:ext cx="2143125" cy="20002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44" name="Rectangle"/>
          <p:cNvSpPr>
            <a:spLocks noGrp="1"/>
          </p:cNvSpPr>
          <p:nvPr>
            <p:ph type="sldNum" idx="7"/>
          </p:nvPr>
        </p:nvSpPr>
        <p:spPr>
          <a:xfrm rot="0">
            <a:off x="11353418" y="6473336"/>
            <a:ext cx="151129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1</a:t>
            </a:fld>
            <a:endParaRPr lang="zh-CN" altLang="en-US" sz="1100" b="0" i="0" u="none" strike="noStrike" kern="1200" cap="none" spc="10" baseline="0">
              <a:solidFill>
                <a:srgbClr val="2D936B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45" name="Rectangle"/>
          <p:cNvSpPr>
            <a:spLocks/>
          </p:cNvSpPr>
          <p:nvPr/>
        </p:nvSpPr>
        <p:spPr>
          <a:xfrm rot="0">
            <a:off x="2024053" y="2628360"/>
            <a:ext cx="8146607" cy="49206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sng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STUDENT NAME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: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 </a:t>
            </a:r>
            <a:r>
              <a:rPr lang="en-US" altLang="zh-CN" sz="3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 </a:t>
            </a: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Vijisree. P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sng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REGISTER NO AND NMID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: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7ACC00F5A4B6294AC2A4EB5A294206F3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sng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DEPARTMENT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: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BCA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0" i="0" u="sng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sng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COLLEGE: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Sri Akilandeswari Women's college/ Thiruvalluvar University </a:t>
            </a:r>
            <a:endParaRPr lang="en-US" altLang="zh-CN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           </a:t>
            </a:r>
            <a:endParaRPr lang="zh-CN" altLang="en-US" sz="2800" b="1" i="0" u="sng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318524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曲线"/>
          <p:cNvSpPr>
            <a:spLocks/>
          </p:cNvSpPr>
          <p:nvPr/>
        </p:nvSpPr>
        <p:spPr>
          <a:xfrm rot="0">
            <a:off x="0" y="0"/>
            <a:ext cx="12192000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1F1F1"/>
          </a:solidFill>
          <a:ln cmpd="sng" cap="flat">
            <a:noFill/>
            <a:prstDash val="solid"/>
            <a:miter/>
          </a:ln>
        </p:spPr>
      </p:sp>
      <p:grpSp>
        <p:nvGrpSpPr>
          <p:cNvPr id="80" name="Combination"/>
          <p:cNvGrpSpPr>
            <a:grpSpLocks/>
          </p:cNvGrpSpPr>
          <p:nvPr/>
        </p:nvGrpSpPr>
        <p:grpSpPr>
          <a:xfrm>
            <a:off x="7416308" y="0"/>
            <a:ext cx="4776100" cy="6857894"/>
            <a:chOff x="7416308" y="0"/>
            <a:chExt cx="4776100" cy="6857894"/>
          </a:xfrm>
        </p:grpSpPr>
        <p:sp>
          <p:nvSpPr>
            <p:cNvPr id="71" name="曲线"/>
            <p:cNvSpPr>
              <a:spLocks/>
            </p:cNvSpPr>
            <p:nvPr/>
          </p:nvSpPr>
          <p:spPr>
            <a:xfrm rot="0">
              <a:off x="9358257" y="4824"/>
              <a:ext cx="1226862" cy="685298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596" y="21598"/>
                  </a:lnTo>
                </a:path>
              </a:pathLst>
            </a:custGeom>
            <a:noFill/>
            <a:ln w="9525" cmpd="sng" cap="flat">
              <a:solidFill>
                <a:srgbClr val="5FCAEE"/>
              </a:solidFill>
              <a:prstDash val="solid"/>
              <a:round/>
            </a:ln>
          </p:spPr>
        </p:sp>
        <p:sp>
          <p:nvSpPr>
            <p:cNvPr id="72" name="曲线"/>
            <p:cNvSpPr>
              <a:spLocks/>
            </p:cNvSpPr>
            <p:nvPr/>
          </p:nvSpPr>
          <p:spPr>
            <a:xfrm rot="0">
              <a:off x="7416308" y="3694588"/>
              <a:ext cx="4775751" cy="3163306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21596"/>
                  </a:lnTo>
                </a:path>
              </a:pathLst>
            </a:custGeom>
            <a:noFill/>
            <a:ln w="9525" cmpd="sng" cap="flat">
              <a:solidFill>
                <a:srgbClr val="5FCAEE"/>
              </a:solidFill>
              <a:prstDash val="solid"/>
              <a:round/>
            </a:ln>
          </p:spPr>
        </p:sp>
        <p:sp>
          <p:nvSpPr>
            <p:cNvPr id="73" name="曲线"/>
            <p:cNvSpPr>
              <a:spLocks/>
            </p:cNvSpPr>
            <p:nvPr/>
          </p:nvSpPr>
          <p:spPr>
            <a:xfrm rot="0">
              <a:off x="9161601" y="0"/>
              <a:ext cx="3030394" cy="685743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14670" y="0"/>
                  </a:lnTo>
                  <a:lnTo>
                    <a:pt x="0" y="21599"/>
                  </a:lnTo>
                  <a:lnTo>
                    <a:pt x="21599" y="21599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5FCAEE">
                <a:alpha val="36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74" name="曲线"/>
            <p:cNvSpPr>
              <a:spLocks/>
            </p:cNvSpPr>
            <p:nvPr/>
          </p:nvSpPr>
          <p:spPr>
            <a:xfrm rot="0">
              <a:off x="9585244" y="0"/>
              <a:ext cx="2607163" cy="685743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6" y="0"/>
                  </a:moveTo>
                  <a:lnTo>
                    <a:pt x="0" y="0"/>
                  </a:lnTo>
                  <a:lnTo>
                    <a:pt x="10081" y="21599"/>
                  </a:lnTo>
                  <a:lnTo>
                    <a:pt x="21596" y="21599"/>
                  </a:lnTo>
                  <a:lnTo>
                    <a:pt x="21596" y="0"/>
                  </a:lnTo>
                  <a:close/>
                </a:path>
              </a:pathLst>
            </a:custGeom>
            <a:solidFill>
              <a:srgbClr val="5FCAEE">
                <a:alpha val="20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75" name="曲线"/>
            <p:cNvSpPr>
              <a:spLocks/>
            </p:cNvSpPr>
            <p:nvPr/>
          </p:nvSpPr>
          <p:spPr>
            <a:xfrm rot="0">
              <a:off x="8912264" y="3047747"/>
              <a:ext cx="3279733" cy="380968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66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76" name="曲线"/>
            <p:cNvSpPr>
              <a:spLocks/>
            </p:cNvSpPr>
            <p:nvPr/>
          </p:nvSpPr>
          <p:spPr>
            <a:xfrm rot="0">
              <a:off x="9318492" y="0"/>
              <a:ext cx="2873761" cy="685743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8" y="0"/>
                  </a:moveTo>
                  <a:lnTo>
                    <a:pt x="0" y="0"/>
                  </a:lnTo>
                  <a:lnTo>
                    <a:pt x="18691" y="21599"/>
                  </a:lnTo>
                  <a:lnTo>
                    <a:pt x="21598" y="21599"/>
                  </a:lnTo>
                  <a:lnTo>
                    <a:pt x="21598" y="0"/>
                  </a:lnTo>
                  <a:close/>
                </a:path>
              </a:pathLst>
            </a:custGeom>
            <a:solidFill>
              <a:srgbClr val="17AFE3">
                <a:alpha val="50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77" name="曲线"/>
            <p:cNvSpPr>
              <a:spLocks/>
            </p:cNvSpPr>
            <p:nvPr/>
          </p:nvSpPr>
          <p:spPr>
            <a:xfrm rot="0">
              <a:off x="10887777" y="0"/>
              <a:ext cx="1304221" cy="685743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4" y="0"/>
                  </a:moveTo>
                  <a:lnTo>
                    <a:pt x="17047" y="0"/>
                  </a:lnTo>
                  <a:lnTo>
                    <a:pt x="0" y="21599"/>
                  </a:lnTo>
                  <a:lnTo>
                    <a:pt x="21594" y="21599"/>
                  </a:lnTo>
                  <a:lnTo>
                    <a:pt x="21594" y="0"/>
                  </a:lnTo>
                  <a:close/>
                </a:path>
              </a:pathLst>
            </a:custGeom>
            <a:solidFill>
              <a:srgbClr val="2D83C3">
                <a:alpha val="70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78" name="曲线"/>
            <p:cNvSpPr>
              <a:spLocks/>
            </p:cNvSpPr>
            <p:nvPr/>
          </p:nvSpPr>
          <p:spPr>
            <a:xfrm rot="0">
              <a:off x="10927694" y="0"/>
              <a:ext cx="1264582" cy="685743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4" y="0"/>
                  </a:moveTo>
                  <a:lnTo>
                    <a:pt x="0" y="0"/>
                  </a:lnTo>
                  <a:lnTo>
                    <a:pt x="19166" y="21599"/>
                  </a:lnTo>
                  <a:lnTo>
                    <a:pt x="21594" y="21599"/>
                  </a:lnTo>
                  <a:lnTo>
                    <a:pt x="21594" y="0"/>
                  </a:lnTo>
                  <a:close/>
                </a:path>
              </a:pathLst>
            </a:custGeom>
            <a:solidFill>
              <a:srgbClr val="226192">
                <a:alpha val="80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79" name="曲线"/>
            <p:cNvSpPr>
              <a:spLocks/>
            </p:cNvSpPr>
            <p:nvPr/>
          </p:nvSpPr>
          <p:spPr>
            <a:xfrm rot="0">
              <a:off x="10360334" y="3590625"/>
              <a:ext cx="1831661" cy="326680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66000"/>
              </a:srgbClr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81" name="曲线"/>
          <p:cNvSpPr>
            <a:spLocks/>
          </p:cNvSpPr>
          <p:nvPr/>
        </p:nvSpPr>
        <p:spPr>
          <a:xfrm rot="0">
            <a:off x="0" y="4010025"/>
            <a:ext cx="447674" cy="2847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82" name="曲线"/>
          <p:cNvSpPr>
            <a:spLocks/>
          </p:cNvSpPr>
          <p:nvPr/>
        </p:nvSpPr>
        <p:spPr>
          <a:xfrm rot="0">
            <a:off x="6696075" y="1695450"/>
            <a:ext cx="314324" cy="3238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  <p:sp>
        <p:nvSpPr>
          <p:cNvPr id="83" name="Text box"/>
          <p:cNvSpPr>
            <a:spLocks noGrp="1"/>
          </p:cNvSpPr>
          <p:nvPr>
            <p:ph type="title"/>
          </p:nvPr>
        </p:nvSpPr>
        <p:spPr>
          <a:xfrm rot="0">
            <a:off x="739774" y="829626"/>
            <a:ext cx="4159250" cy="664209"/>
          </a:xfrm>
          <a:prstGeom prst="rect"/>
          <a:solidFill>
            <a:srgbClr val="CADAFB"/>
          </a:solidFill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4250" b="1" i="0" u="sng" strike="noStrike" kern="0" cap="none" spc="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PROJECT</a:t>
            </a:r>
            <a:r>
              <a:rPr lang="en-US" altLang="zh-CN" sz="4250" b="1" i="0" u="sng" strike="noStrike" kern="0" cap="none" spc="-8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4250" b="1" i="0" u="sng" strike="noStrike" kern="0" cap="none" spc="2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TITLE</a:t>
            </a:r>
            <a:endParaRPr lang="zh-CN" altLang="en-US" sz="4250" b="1" i="0" u="sng" strike="noStrike" kern="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grpSp>
        <p:nvGrpSpPr>
          <p:cNvPr id="86" name="Combination"/>
          <p:cNvGrpSpPr>
            <a:grpSpLocks/>
          </p:cNvGrpSpPr>
          <p:nvPr/>
        </p:nvGrpSpPr>
        <p:grpSpPr>
          <a:xfrm>
            <a:off x="466725" y="6410325"/>
            <a:ext cx="3705224" cy="295275"/>
            <a:chOff x="466725" y="6410325"/>
            <a:chExt cx="3705224" cy="295275"/>
          </a:xfrm>
        </p:grpSpPr>
        <p:pic>
          <p:nvPicPr>
            <p:cNvPr id="84" name="Image"/>
            <p:cNvPicPr>
              <a:picLocks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 rot="0">
              <a:off x="676275" y="6467475"/>
              <a:ext cx="2143125" cy="200023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  <p:pic>
          <p:nvPicPr>
            <p:cNvPr id="85" name="Image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0">
              <a:off x="466725" y="6410325"/>
              <a:ext cx="3705224" cy="295275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sp>
        <p:nvSpPr>
          <p:cNvPr id="87" name="Rectangle"/>
          <p:cNvSpPr>
            <a:spLocks noGrp="1"/>
          </p:cNvSpPr>
          <p:nvPr>
            <p:ph type="sldNum" idx="7"/>
          </p:nvPr>
        </p:nvSpPr>
        <p:spPr>
          <a:xfrm rot="0">
            <a:off x="11353418" y="6473336"/>
            <a:ext cx="151129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2</a:t>
            </a:fld>
            <a:endParaRPr lang="zh-CN" altLang="en-US" sz="1100" b="0" i="0" u="none" strike="noStrike" kern="1200" cap="none" spc="10" baseline="0">
              <a:solidFill>
                <a:srgbClr val="2D936B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88" name="Rectangle" descr="*#TXT_SIGN#*"/>
          <p:cNvSpPr>
            <a:spLocks/>
          </p:cNvSpPr>
          <p:nvPr/>
        </p:nvSpPr>
        <p:spPr>
          <a:xfrm rot="0">
            <a:off x="1747837" y="2152632"/>
            <a:ext cx="7629589" cy="17906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00" b="0" i="0" u="none" strike="noStrike" kern="1200" cap="none" spc="0" baseline="0">
                <a:solidFill>
                  <a:srgbClr val="EC42CB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Entrepreneur Portfolio - Healthy Eats Restuarant </a:t>
            </a:r>
            <a:endParaRPr lang="zh-CN" altLang="en-US" sz="5400" b="0" i="0" u="none" strike="noStrike" kern="1200" cap="none" spc="0" baseline="0">
              <a:solidFill>
                <a:srgbClr val="EC42CB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grpSp>
        <p:nvGrpSpPr>
          <p:cNvPr id="91" name="Combination"/>
          <p:cNvGrpSpPr>
            <a:grpSpLocks/>
          </p:cNvGrpSpPr>
          <p:nvPr/>
        </p:nvGrpSpPr>
        <p:grpSpPr>
          <a:xfrm>
            <a:off x="742949" y="4410023"/>
            <a:ext cx="1743076" cy="1733546"/>
            <a:chOff x="742949" y="4410023"/>
            <a:chExt cx="1743076" cy="1733546"/>
          </a:xfrm>
        </p:grpSpPr>
        <p:sp>
          <p:nvSpPr>
            <p:cNvPr id="89" name="曲线"/>
            <p:cNvSpPr>
              <a:spLocks/>
            </p:cNvSpPr>
            <p:nvPr/>
          </p:nvSpPr>
          <p:spPr>
            <a:xfrm rot="0">
              <a:off x="742949" y="4769115"/>
              <a:ext cx="1228724" cy="137445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954" y="0"/>
                  </a:moveTo>
                  <a:lnTo>
                    <a:pt x="4645" y="0"/>
                  </a:lnTo>
                  <a:lnTo>
                    <a:pt x="0" y="10799"/>
                  </a:lnTo>
                  <a:lnTo>
                    <a:pt x="4645" y="21599"/>
                  </a:lnTo>
                  <a:lnTo>
                    <a:pt x="16954" y="21599"/>
                  </a:lnTo>
                  <a:lnTo>
                    <a:pt x="21598" y="10799"/>
                  </a:lnTo>
                  <a:lnTo>
                    <a:pt x="16954" y="0"/>
                  </a:lnTo>
                  <a:close/>
                </a:path>
              </a:pathLst>
            </a:custGeom>
            <a:solidFill>
              <a:srgbClr val="5FCAEE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90" name="曲线"/>
            <p:cNvSpPr>
              <a:spLocks/>
            </p:cNvSpPr>
            <p:nvPr/>
          </p:nvSpPr>
          <p:spPr>
            <a:xfrm rot="0">
              <a:off x="1838325" y="4410023"/>
              <a:ext cx="647700" cy="73056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6915" y="0"/>
                  </a:moveTo>
                  <a:lnTo>
                    <a:pt x="4684" y="0"/>
                  </a:lnTo>
                  <a:lnTo>
                    <a:pt x="0" y="10797"/>
                  </a:lnTo>
                  <a:lnTo>
                    <a:pt x="4684" y="21600"/>
                  </a:lnTo>
                  <a:lnTo>
                    <a:pt x="16915" y="21600"/>
                  </a:lnTo>
                  <a:lnTo>
                    <a:pt x="21600" y="10797"/>
                  </a:lnTo>
                  <a:lnTo>
                    <a:pt x="16915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</p:grpSp>
      <p:grpSp>
        <p:nvGrpSpPr>
          <p:cNvPr id="95" name="Combination"/>
          <p:cNvGrpSpPr>
            <a:grpSpLocks/>
          </p:cNvGrpSpPr>
          <p:nvPr/>
        </p:nvGrpSpPr>
        <p:grpSpPr>
          <a:xfrm>
            <a:off x="8591541" y="3428992"/>
            <a:ext cx="2762249" cy="3257550"/>
            <a:chOff x="8591541" y="3428992"/>
            <a:chExt cx="2762249" cy="3257550"/>
          </a:xfrm>
        </p:grpSpPr>
        <p:sp>
          <p:nvSpPr>
            <p:cNvPr id="92" name="曲线"/>
            <p:cNvSpPr>
              <a:spLocks/>
            </p:cNvSpPr>
            <p:nvPr/>
          </p:nvSpPr>
          <p:spPr>
            <a:xfrm rot="0">
              <a:off x="9953615" y="5857868"/>
              <a:ext cx="457196" cy="4572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93" name="曲线"/>
            <p:cNvSpPr>
              <a:spLocks/>
            </p:cNvSpPr>
            <p:nvPr/>
          </p:nvSpPr>
          <p:spPr>
            <a:xfrm rot="0">
              <a:off x="9953615" y="6391267"/>
              <a:ext cx="180974" cy="1809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  <p:pic>
          <p:nvPicPr>
            <p:cNvPr id="94" name="Image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0">
              <a:off x="8591541" y="3428992"/>
              <a:ext cx="2762249" cy="325755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sp>
        <p:nvSpPr>
          <p:cNvPr id="96" name="曲线"/>
          <p:cNvSpPr>
            <a:spLocks/>
          </p:cNvSpPr>
          <p:nvPr/>
        </p:nvSpPr>
        <p:spPr>
          <a:xfrm rot="0">
            <a:off x="7416929" y="5273777"/>
            <a:ext cx="457198" cy="4572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mpd="sng" cap="flat">
            <a:noFill/>
            <a:prstDash val="solid"/>
            <a:miter/>
          </a:ln>
        </p:spPr>
      </p:sp>
      <p:sp>
        <p:nvSpPr>
          <p:cNvPr id="97" name="曲线"/>
          <p:cNvSpPr>
            <a:spLocks/>
          </p:cNvSpPr>
          <p:nvPr/>
        </p:nvSpPr>
        <p:spPr>
          <a:xfrm flipH="1" rot="21600000">
            <a:off x="3978699" y="5895975"/>
            <a:ext cx="920323" cy="5715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312140376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曲线"/>
          <p:cNvSpPr>
            <a:spLocks/>
          </p:cNvSpPr>
          <p:nvPr/>
        </p:nvSpPr>
        <p:spPr>
          <a:xfrm rot="0">
            <a:off x="-76200" y="28579"/>
            <a:ext cx="12481713" cy="6858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9" y="0"/>
                </a:moveTo>
                <a:lnTo>
                  <a:pt x="0" y="0"/>
                </a:lnTo>
                <a:lnTo>
                  <a:pt x="0" y="21595"/>
                </a:lnTo>
                <a:lnTo>
                  <a:pt x="21599" y="21595"/>
                </a:lnTo>
                <a:lnTo>
                  <a:pt x="21599" y="0"/>
                </a:lnTo>
                <a:close/>
              </a:path>
            </a:pathLst>
          </a:custGeom>
          <a:solidFill>
            <a:srgbClr val="F1F1F1"/>
          </a:solidFill>
          <a:ln cmpd="sng" cap="flat">
            <a:noFill/>
            <a:prstDash val="solid"/>
            <a:miter/>
          </a:ln>
        </p:spPr>
      </p:sp>
      <p:grpSp>
        <p:nvGrpSpPr>
          <p:cNvPr id="117" name="Combination"/>
          <p:cNvGrpSpPr>
            <a:grpSpLocks/>
          </p:cNvGrpSpPr>
          <p:nvPr/>
        </p:nvGrpSpPr>
        <p:grpSpPr>
          <a:xfrm>
            <a:off x="7448612" y="0"/>
            <a:ext cx="4743793" cy="6858466"/>
            <a:chOff x="7448612" y="0"/>
            <a:chExt cx="4743793" cy="6858466"/>
          </a:xfrm>
        </p:grpSpPr>
        <p:sp>
          <p:nvSpPr>
            <p:cNvPr id="108" name="曲线"/>
            <p:cNvSpPr>
              <a:spLocks/>
            </p:cNvSpPr>
            <p:nvPr/>
          </p:nvSpPr>
          <p:spPr>
            <a:xfrm rot="0">
              <a:off x="9377426" y="4825"/>
              <a:ext cx="1218563" cy="685355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596" y="21593"/>
                  </a:lnTo>
                </a:path>
              </a:pathLst>
            </a:custGeom>
            <a:noFill/>
            <a:ln w="9525" cmpd="sng" cap="flat">
              <a:solidFill>
                <a:srgbClr val="5FCAEE"/>
              </a:solidFill>
              <a:prstDash val="solid"/>
              <a:round/>
            </a:ln>
          </p:spPr>
        </p:sp>
        <p:sp>
          <p:nvSpPr>
            <p:cNvPr id="109" name="曲线"/>
            <p:cNvSpPr>
              <a:spLocks/>
            </p:cNvSpPr>
            <p:nvPr/>
          </p:nvSpPr>
          <p:spPr>
            <a:xfrm rot="0">
              <a:off x="7448612" y="3694896"/>
              <a:ext cx="4743450" cy="316357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0" y="21595"/>
                  </a:lnTo>
                </a:path>
              </a:pathLst>
            </a:custGeom>
            <a:noFill/>
            <a:ln w="9525" cmpd="sng" cap="flat">
              <a:solidFill>
                <a:srgbClr val="5FCAEE"/>
              </a:solidFill>
              <a:prstDash val="solid"/>
              <a:round/>
            </a:ln>
          </p:spPr>
        </p:sp>
        <p:sp>
          <p:nvSpPr>
            <p:cNvPr id="110" name="曲线"/>
            <p:cNvSpPr>
              <a:spLocks/>
            </p:cNvSpPr>
            <p:nvPr/>
          </p:nvSpPr>
          <p:spPr>
            <a:xfrm rot="0">
              <a:off x="9182100" y="0"/>
              <a:ext cx="3009898" cy="6858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9" y="0"/>
                  </a:moveTo>
                  <a:lnTo>
                    <a:pt x="14671" y="0"/>
                  </a:lnTo>
                  <a:lnTo>
                    <a:pt x="0" y="21599"/>
                  </a:lnTo>
                  <a:lnTo>
                    <a:pt x="21599" y="21599"/>
                  </a:lnTo>
                  <a:lnTo>
                    <a:pt x="21599" y="0"/>
                  </a:lnTo>
                  <a:close/>
                </a:path>
              </a:pathLst>
            </a:custGeom>
            <a:solidFill>
              <a:srgbClr val="5FCAEE">
                <a:alpha val="36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111" name="曲线"/>
            <p:cNvSpPr>
              <a:spLocks/>
            </p:cNvSpPr>
            <p:nvPr/>
          </p:nvSpPr>
          <p:spPr>
            <a:xfrm rot="0">
              <a:off x="9602878" y="0"/>
              <a:ext cx="2589527" cy="6858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4" y="0"/>
                  </a:moveTo>
                  <a:lnTo>
                    <a:pt x="0" y="0"/>
                  </a:lnTo>
                  <a:lnTo>
                    <a:pt x="10083" y="21599"/>
                  </a:lnTo>
                  <a:lnTo>
                    <a:pt x="21594" y="21599"/>
                  </a:lnTo>
                  <a:lnTo>
                    <a:pt x="21594" y="0"/>
                  </a:lnTo>
                  <a:close/>
                </a:path>
              </a:pathLst>
            </a:custGeom>
            <a:solidFill>
              <a:srgbClr val="5FCAEE">
                <a:alpha val="20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112" name="曲线"/>
            <p:cNvSpPr>
              <a:spLocks/>
            </p:cNvSpPr>
            <p:nvPr/>
          </p:nvSpPr>
          <p:spPr>
            <a:xfrm rot="0">
              <a:off x="8934450" y="3048000"/>
              <a:ext cx="3257550" cy="3810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66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113" name="曲线"/>
            <p:cNvSpPr>
              <a:spLocks/>
            </p:cNvSpPr>
            <p:nvPr/>
          </p:nvSpPr>
          <p:spPr>
            <a:xfrm rot="0">
              <a:off x="9337930" y="0"/>
              <a:ext cx="2854323" cy="6858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8" y="0"/>
                  </a:moveTo>
                  <a:lnTo>
                    <a:pt x="0" y="0"/>
                  </a:lnTo>
                  <a:lnTo>
                    <a:pt x="18689" y="21599"/>
                  </a:lnTo>
                  <a:lnTo>
                    <a:pt x="21598" y="21599"/>
                  </a:lnTo>
                  <a:lnTo>
                    <a:pt x="21598" y="0"/>
                  </a:lnTo>
                  <a:close/>
                </a:path>
              </a:pathLst>
            </a:custGeom>
            <a:solidFill>
              <a:srgbClr val="17AFE3">
                <a:alpha val="50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114" name="曲线"/>
            <p:cNvSpPr>
              <a:spLocks/>
            </p:cNvSpPr>
            <p:nvPr/>
          </p:nvSpPr>
          <p:spPr>
            <a:xfrm rot="0">
              <a:off x="10896601" y="0"/>
              <a:ext cx="1295400" cy="6858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8" y="0"/>
                  </a:moveTo>
                  <a:lnTo>
                    <a:pt x="17047" y="0"/>
                  </a:lnTo>
                  <a:lnTo>
                    <a:pt x="0" y="21599"/>
                  </a:lnTo>
                  <a:lnTo>
                    <a:pt x="21598" y="21599"/>
                  </a:lnTo>
                  <a:lnTo>
                    <a:pt x="21598" y="0"/>
                  </a:lnTo>
                  <a:close/>
                </a:path>
              </a:pathLst>
            </a:custGeom>
            <a:solidFill>
              <a:srgbClr val="2D83C3">
                <a:alpha val="70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115" name="曲线"/>
            <p:cNvSpPr>
              <a:spLocks/>
            </p:cNvSpPr>
            <p:nvPr/>
          </p:nvSpPr>
          <p:spPr>
            <a:xfrm rot="0">
              <a:off x="10936247" y="0"/>
              <a:ext cx="1256027" cy="68580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595" y="0"/>
                  </a:moveTo>
                  <a:lnTo>
                    <a:pt x="0" y="0"/>
                  </a:lnTo>
                  <a:lnTo>
                    <a:pt x="19165" y="21599"/>
                  </a:lnTo>
                  <a:lnTo>
                    <a:pt x="21595" y="21599"/>
                  </a:lnTo>
                  <a:lnTo>
                    <a:pt x="21595" y="0"/>
                  </a:lnTo>
                  <a:close/>
                </a:path>
              </a:pathLst>
            </a:custGeom>
            <a:solidFill>
              <a:srgbClr val="226192">
                <a:alpha val="80000"/>
              </a:srgbClr>
            </a:solidFill>
            <a:ln cmpd="sng" cap="flat">
              <a:noFill/>
              <a:prstDash val="solid"/>
              <a:miter/>
            </a:ln>
          </p:spPr>
        </p:sp>
        <p:sp>
          <p:nvSpPr>
            <p:cNvPr id="116" name="曲线"/>
            <p:cNvSpPr>
              <a:spLocks/>
            </p:cNvSpPr>
            <p:nvPr/>
          </p:nvSpPr>
          <p:spPr>
            <a:xfrm rot="0">
              <a:off x="10372725" y="3590925"/>
              <a:ext cx="1819275" cy="32670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AFE3">
                <a:alpha val="66000"/>
              </a:srgbClr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18" name="曲线"/>
          <p:cNvSpPr>
            <a:spLocks/>
          </p:cNvSpPr>
          <p:nvPr/>
        </p:nvSpPr>
        <p:spPr>
          <a:xfrm rot="0">
            <a:off x="0" y="4010025"/>
            <a:ext cx="447674" cy="2847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000"/>
            </a:srgbClr>
          </a:solidFill>
          <a:ln cmpd="sng" cap="flat">
            <a:noFill/>
            <a:prstDash val="solid"/>
            <a:miter/>
          </a:ln>
        </p:spPr>
      </p:sp>
      <p:sp>
        <p:nvSpPr>
          <p:cNvPr id="119" name="Rectangle"/>
          <p:cNvSpPr>
            <a:spLocks/>
          </p:cNvSpPr>
          <p:nvPr/>
        </p:nvSpPr>
        <p:spPr>
          <a:xfrm rot="0">
            <a:off x="752474" y="6486037"/>
            <a:ext cx="1773554" cy="1663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2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3/21/202</a:t>
            </a:r>
            <a:r>
              <a:rPr lang="en-US" altLang="zh-CN" sz="1100" b="0" i="0" u="none" strike="noStrike" kern="1200" cap="none" spc="1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4</a:t>
            </a:r>
            <a:r>
              <a:rPr lang="en-US" altLang="zh-CN" sz="1100" b="0" i="0" u="none" strike="noStrike" kern="1200" cap="none" spc="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1100" b="0" i="0" u="none" strike="noStrike" kern="1200" cap="none" spc="13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1100" b="1" i="0" u="none" strike="noStrike" kern="1200" cap="none" spc="5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A</a:t>
            </a:r>
            <a:r>
              <a:rPr lang="en-US" altLang="zh-CN" sz="1100" b="1" i="0" u="none" strike="noStrike" kern="1200" cap="none" spc="1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nnu</a:t>
            </a:r>
            <a:r>
              <a:rPr lang="en-US" altLang="zh-CN" sz="1100" b="1" i="0" u="none" strike="noStrike" kern="1200" cap="none" spc="1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al</a:t>
            </a:r>
            <a:r>
              <a:rPr lang="en-US" altLang="zh-CN" sz="1100" b="1" i="0" u="none" strike="noStrike" kern="1200" cap="none" spc="-14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1100" b="1" i="0" u="none" strike="noStrike" kern="1200" cap="none" spc="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R</a:t>
            </a:r>
            <a:r>
              <a:rPr lang="en-US" altLang="zh-CN" sz="1100" b="1" i="0" u="none" strike="noStrike" kern="1200" cap="none" spc="3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</a:t>
            </a:r>
            <a:r>
              <a:rPr lang="en-US" altLang="zh-CN" sz="1100" b="1" i="0" u="none" strike="noStrike" kern="1200" cap="none" spc="9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v</a:t>
            </a:r>
            <a:r>
              <a:rPr lang="en-US" altLang="zh-CN" sz="1100" b="1" i="0" u="none" strike="noStrike" kern="1200" cap="none" spc="-3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i</a:t>
            </a:r>
            <a:r>
              <a:rPr lang="en-US" altLang="zh-CN" sz="1100" b="1" i="0" u="none" strike="noStrike" kern="1200" cap="none" spc="3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</a:t>
            </a:r>
            <a:r>
              <a:rPr lang="en-US" altLang="zh-CN" sz="1100" b="1" i="0" u="none" strike="noStrike" kern="1200" cap="none" spc="1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w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120" name="曲线"/>
          <p:cNvSpPr>
            <a:spLocks/>
          </p:cNvSpPr>
          <p:nvPr/>
        </p:nvSpPr>
        <p:spPr>
          <a:xfrm rot="0">
            <a:off x="7362825" y="447674"/>
            <a:ext cx="361950" cy="3619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0800" y="0"/>
                </a:moveTo>
                <a:lnTo>
                  <a:pt x="7928" y="385"/>
                </a:lnTo>
                <a:lnTo>
                  <a:pt x="5349" y="1474"/>
                </a:lnTo>
                <a:lnTo>
                  <a:pt x="3158" y="3161"/>
                </a:lnTo>
                <a:lnTo>
                  <a:pt x="1473" y="5347"/>
                </a:lnTo>
                <a:lnTo>
                  <a:pt x="383" y="7928"/>
                </a:lnTo>
                <a:lnTo>
                  <a:pt x="0" y="10800"/>
                </a:lnTo>
                <a:lnTo>
                  <a:pt x="383" y="13671"/>
                </a:lnTo>
                <a:lnTo>
                  <a:pt x="1473" y="16250"/>
                </a:lnTo>
                <a:lnTo>
                  <a:pt x="3158" y="18436"/>
                </a:lnTo>
                <a:lnTo>
                  <a:pt x="5349" y="20124"/>
                </a:lnTo>
                <a:lnTo>
                  <a:pt x="7928" y="21214"/>
                </a:lnTo>
                <a:lnTo>
                  <a:pt x="10800" y="21600"/>
                </a:lnTo>
                <a:lnTo>
                  <a:pt x="13668" y="21214"/>
                </a:lnTo>
                <a:lnTo>
                  <a:pt x="16250" y="20124"/>
                </a:lnTo>
                <a:lnTo>
                  <a:pt x="18435" y="18436"/>
                </a:lnTo>
                <a:lnTo>
                  <a:pt x="20124" y="16250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8"/>
                </a:lnTo>
                <a:lnTo>
                  <a:pt x="20124" y="5347"/>
                </a:lnTo>
                <a:lnTo>
                  <a:pt x="18435" y="3161"/>
                </a:lnTo>
                <a:lnTo>
                  <a:pt x="16250" y="1474"/>
                </a:lnTo>
                <a:lnTo>
                  <a:pt x="13668" y="385"/>
                </a:lnTo>
                <a:lnTo>
                  <a:pt x="10800" y="0"/>
                </a:lnTo>
                <a:close/>
              </a:path>
            </a:pathLst>
          </a:custGeom>
          <a:solidFill>
            <a:srgbClr val="EBEBEB"/>
          </a:solidFill>
          <a:ln cmpd="sng" cap="flat">
            <a:noFill/>
            <a:prstDash val="solid"/>
            <a:miter/>
          </a:ln>
        </p:spPr>
      </p:sp>
      <p:sp>
        <p:nvSpPr>
          <p:cNvPr id="121" name="曲线"/>
          <p:cNvSpPr>
            <a:spLocks/>
          </p:cNvSpPr>
          <p:nvPr/>
        </p:nvSpPr>
        <p:spPr>
          <a:xfrm rot="0">
            <a:off x="11010900" y="5610225"/>
            <a:ext cx="647699" cy="6477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0800" y="0"/>
                </a:moveTo>
                <a:lnTo>
                  <a:pt x="9203" y="117"/>
                </a:lnTo>
                <a:lnTo>
                  <a:pt x="7681" y="455"/>
                </a:lnTo>
                <a:lnTo>
                  <a:pt x="6245" y="1003"/>
                </a:lnTo>
                <a:lnTo>
                  <a:pt x="4915" y="1739"/>
                </a:lnTo>
                <a:lnTo>
                  <a:pt x="3710" y="2648"/>
                </a:lnTo>
                <a:lnTo>
                  <a:pt x="2649" y="3713"/>
                </a:lnTo>
                <a:lnTo>
                  <a:pt x="1740" y="4915"/>
                </a:lnTo>
                <a:lnTo>
                  <a:pt x="1002" y="6246"/>
                </a:lnTo>
                <a:lnTo>
                  <a:pt x="456" y="7680"/>
                </a:lnTo>
                <a:lnTo>
                  <a:pt x="115" y="9201"/>
                </a:lnTo>
                <a:lnTo>
                  <a:pt x="0" y="10800"/>
                </a:lnTo>
                <a:lnTo>
                  <a:pt x="115" y="12395"/>
                </a:lnTo>
                <a:lnTo>
                  <a:pt x="456" y="13916"/>
                </a:lnTo>
                <a:lnTo>
                  <a:pt x="1002" y="15352"/>
                </a:lnTo>
                <a:lnTo>
                  <a:pt x="1740" y="16679"/>
                </a:lnTo>
                <a:lnTo>
                  <a:pt x="2649" y="17883"/>
                </a:lnTo>
                <a:lnTo>
                  <a:pt x="3710" y="18950"/>
                </a:lnTo>
                <a:lnTo>
                  <a:pt x="4915" y="19857"/>
                </a:lnTo>
                <a:lnTo>
                  <a:pt x="6245" y="20596"/>
                </a:lnTo>
                <a:lnTo>
                  <a:pt x="7681" y="21142"/>
                </a:lnTo>
                <a:lnTo>
                  <a:pt x="9203" y="21481"/>
                </a:lnTo>
                <a:lnTo>
                  <a:pt x="10800" y="21600"/>
                </a:lnTo>
                <a:lnTo>
                  <a:pt x="12391" y="21481"/>
                </a:lnTo>
                <a:lnTo>
                  <a:pt x="13916" y="21142"/>
                </a:lnTo>
                <a:lnTo>
                  <a:pt x="15349" y="20596"/>
                </a:lnTo>
                <a:lnTo>
                  <a:pt x="16680" y="19857"/>
                </a:lnTo>
                <a:lnTo>
                  <a:pt x="17884" y="18950"/>
                </a:lnTo>
                <a:lnTo>
                  <a:pt x="18950" y="17883"/>
                </a:lnTo>
                <a:lnTo>
                  <a:pt x="19858" y="16679"/>
                </a:lnTo>
                <a:lnTo>
                  <a:pt x="20592" y="15352"/>
                </a:lnTo>
                <a:lnTo>
                  <a:pt x="21138" y="13916"/>
                </a:lnTo>
                <a:lnTo>
                  <a:pt x="21482" y="12395"/>
                </a:lnTo>
                <a:lnTo>
                  <a:pt x="21600" y="10800"/>
                </a:lnTo>
                <a:lnTo>
                  <a:pt x="21482" y="9201"/>
                </a:lnTo>
                <a:lnTo>
                  <a:pt x="21138" y="7680"/>
                </a:lnTo>
                <a:lnTo>
                  <a:pt x="20592" y="6246"/>
                </a:lnTo>
                <a:lnTo>
                  <a:pt x="19858" y="4915"/>
                </a:lnTo>
                <a:lnTo>
                  <a:pt x="18950" y="3713"/>
                </a:lnTo>
                <a:lnTo>
                  <a:pt x="17884" y="2648"/>
                </a:lnTo>
                <a:lnTo>
                  <a:pt x="16680" y="1739"/>
                </a:lnTo>
                <a:lnTo>
                  <a:pt x="15349" y="1003"/>
                </a:lnTo>
                <a:lnTo>
                  <a:pt x="13916" y="455"/>
                </a:lnTo>
                <a:lnTo>
                  <a:pt x="12391" y="117"/>
                </a:lnTo>
                <a:lnTo>
                  <a:pt x="10800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  <p:pic>
        <p:nvPicPr>
          <p:cNvPr id="122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0687050" y="6134100"/>
            <a:ext cx="247648" cy="247650"/>
          </a:xfrm>
          <a:prstGeom prst="rect"/>
          <a:noFill/>
          <a:ln w="12700" cmpd="sng" cap="flat">
            <a:noFill/>
            <a:prstDash val="solid"/>
            <a:miter/>
          </a:ln>
        </p:spPr>
      </p:pic>
      <p:grpSp>
        <p:nvGrpSpPr>
          <p:cNvPr id="125" name="Combination"/>
          <p:cNvGrpSpPr>
            <a:grpSpLocks/>
          </p:cNvGrpSpPr>
          <p:nvPr/>
        </p:nvGrpSpPr>
        <p:grpSpPr>
          <a:xfrm>
            <a:off x="47625" y="3819523"/>
            <a:ext cx="4124324" cy="3009896"/>
            <a:chOff x="47625" y="3819523"/>
            <a:chExt cx="4124324" cy="3009896"/>
          </a:xfrm>
        </p:grpSpPr>
        <p:pic>
          <p:nvPicPr>
            <p:cNvPr id="123" name="Image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0">
              <a:off x="466725" y="6410325"/>
              <a:ext cx="3705224" cy="295275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  <p:pic>
          <p:nvPicPr>
            <p:cNvPr id="124" name="Image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0">
              <a:off x="47625" y="3819523"/>
              <a:ext cx="1733550" cy="3009896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sp>
        <p:nvSpPr>
          <p:cNvPr id="126" name="Text box"/>
          <p:cNvSpPr>
            <a:spLocks noGrp="1"/>
          </p:cNvSpPr>
          <p:nvPr>
            <p:ph type="title"/>
          </p:nvPr>
        </p:nvSpPr>
        <p:spPr>
          <a:xfrm rot="0">
            <a:off x="739774" y="445387"/>
            <a:ext cx="3159126" cy="737234"/>
          </a:xfrm>
          <a:prstGeom prst="rect"/>
          <a:solidFill>
            <a:srgbClr val="EAF3BE"/>
          </a:solidFill>
          <a:ln w="12700" cmpd="sng" cap="flat">
            <a:noFill/>
            <a:prstDash val="solid"/>
            <a:miter/>
          </a:ln>
        </p:spPr>
        <p:txBody>
          <a:bodyPr vert="horz" wrap="square" lIns="0" tIns="13334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4800" b="1" i="0" u="sng" strike="noStrike" kern="0" cap="none" spc="25" baseline="0">
                <a:solidFill>
                  <a:srgbClr val="000000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A</a:t>
            </a:r>
            <a:r>
              <a:rPr lang="en-US" altLang="zh-CN" sz="4800" b="1" i="0" u="sng" strike="noStrike" kern="0" cap="none" spc="-5" baseline="0">
                <a:solidFill>
                  <a:srgbClr val="000000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G</a:t>
            </a:r>
            <a:r>
              <a:rPr lang="en-US" altLang="zh-CN" sz="4800" b="1" i="0" u="sng" strike="noStrike" kern="0" cap="none" spc="-35" baseline="0">
                <a:solidFill>
                  <a:srgbClr val="000000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</a:t>
            </a:r>
            <a:r>
              <a:rPr lang="en-US" altLang="zh-CN" sz="4800" b="1" i="0" u="sng" strike="noStrike" kern="0" cap="none" spc="15" baseline="0">
                <a:solidFill>
                  <a:srgbClr val="000000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N</a:t>
            </a:r>
            <a:r>
              <a:rPr lang="en-US" altLang="zh-CN" sz="4800" b="1" i="0" u="sng" strike="noStrike" kern="0" cap="none" spc="0" baseline="0">
                <a:solidFill>
                  <a:srgbClr val="000000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DA</a:t>
            </a:r>
            <a:endParaRPr lang="zh-CN" altLang="en-US" sz="4800" b="1" i="0" u="sng" strike="noStrike" kern="0" cap="none" spc="0" baseline="0">
              <a:solidFill>
                <a:srgbClr val="000000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127" name="Rectangle"/>
          <p:cNvSpPr>
            <a:spLocks noGrp="1"/>
          </p:cNvSpPr>
          <p:nvPr>
            <p:ph type="sldNum" idx="7"/>
          </p:nvPr>
        </p:nvSpPr>
        <p:spPr>
          <a:xfrm rot="0">
            <a:off x="11353418" y="6473336"/>
            <a:ext cx="151129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3</a:t>
            </a:fld>
            <a:endParaRPr lang="zh-CN" altLang="en-US" sz="1100" b="0" i="0" u="none" strike="noStrike" kern="1200" cap="none" spc="10" baseline="0">
              <a:solidFill>
                <a:srgbClr val="2D936B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128" name="Rectangle"/>
          <p:cNvSpPr>
            <a:spLocks/>
          </p:cNvSpPr>
          <p:nvPr/>
        </p:nvSpPr>
        <p:spPr>
          <a:xfrm rot="0">
            <a:off x="2424082" y="812935"/>
            <a:ext cx="5029200" cy="64065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32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32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Problem Statement</a:t>
            </a:r>
            <a:endParaRPr lang="en-US" altLang="zh-CN" sz="32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32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Project Overview</a:t>
            </a:r>
            <a:endParaRPr lang="en-US" altLang="zh-CN" sz="32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32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End Users</a:t>
            </a:r>
            <a:endParaRPr lang="en-US" altLang="zh-CN" sz="32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32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Tools and Technologies</a:t>
            </a:r>
            <a:endParaRPr lang="en-US" altLang="zh-CN" sz="32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32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Portfolio design and Layout</a:t>
            </a:r>
            <a:endParaRPr lang="en-US" altLang="zh-CN" sz="32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32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Features and Functionality</a:t>
            </a:r>
            <a:endParaRPr lang="en-US" altLang="zh-CN" sz="32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32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Results and Screenshots</a:t>
            </a:r>
            <a:endParaRPr lang="en-US" altLang="zh-CN" sz="32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32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Conclusion</a:t>
            </a:r>
            <a:endParaRPr lang="en-US" altLang="zh-CN" sz="32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3200" b="0" i="0" u="none" strike="noStrike" kern="1200" cap="none" spc="0" baseline="0">
                <a:solidFill>
                  <a:srgbClr val="0D0D0D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Github Link</a:t>
            </a:r>
            <a:endParaRPr lang="en-US" altLang="zh-CN" sz="32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5955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Combination"/>
          <p:cNvGrpSpPr>
            <a:grpSpLocks/>
          </p:cNvGrpSpPr>
          <p:nvPr/>
        </p:nvGrpSpPr>
        <p:grpSpPr>
          <a:xfrm>
            <a:off x="8924911" y="3428992"/>
            <a:ext cx="2762248" cy="3257550"/>
            <a:chOff x="8924911" y="3428992"/>
            <a:chExt cx="2762248" cy="3257550"/>
          </a:xfrm>
        </p:grpSpPr>
        <p:sp>
          <p:nvSpPr>
            <p:cNvPr id="138" name="曲线"/>
            <p:cNvSpPr>
              <a:spLocks/>
            </p:cNvSpPr>
            <p:nvPr/>
          </p:nvSpPr>
          <p:spPr>
            <a:xfrm rot="0">
              <a:off x="10286985" y="5857868"/>
              <a:ext cx="457196" cy="4572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39" name="曲线"/>
            <p:cNvSpPr>
              <a:spLocks/>
            </p:cNvSpPr>
            <p:nvPr/>
          </p:nvSpPr>
          <p:spPr>
            <a:xfrm rot="0">
              <a:off x="10286985" y="6391267"/>
              <a:ext cx="180974" cy="1809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  <p:pic>
          <p:nvPicPr>
            <p:cNvPr id="140" name="Image"/>
            <p:cNvPicPr>
              <a:picLocks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 rot="0">
              <a:off x="8924911" y="3428992"/>
              <a:ext cx="2762248" cy="325755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sp>
        <p:nvSpPr>
          <p:cNvPr id="142" name="Text box"/>
          <p:cNvSpPr>
            <a:spLocks noGrp="1"/>
          </p:cNvSpPr>
          <p:nvPr>
            <p:ph type="title"/>
          </p:nvPr>
        </p:nvSpPr>
        <p:spPr>
          <a:xfrm rot="0">
            <a:off x="390527" y="575054"/>
            <a:ext cx="5707720" cy="664209"/>
          </a:xfrm>
          <a:prstGeom prst="rect"/>
          <a:solidFill>
            <a:srgbClr val="F1948D"/>
          </a:solidFill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  <a:tabLst>
                <a:tab pos="2727960" algn="l"/>
              </a:tabLst>
            </a:pPr>
            <a:r>
              <a:rPr lang="en-US" altLang="zh-CN" sz="4250" b="1" i="0" u="sng" strike="noStrike" kern="0" cap="none" spc="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PROBLEM STAT</a:t>
            </a:r>
            <a:r>
              <a:rPr lang="en-US" altLang="zh-CN" sz="4250" b="1" i="0" u="sng" strike="noStrike" kern="0" cap="none" spc="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</a:t>
            </a:r>
            <a:r>
              <a:rPr lang="en-US" altLang="zh-CN" sz="4250" b="1" i="0" u="sng" strike="noStrike" kern="0" cap="none" spc="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MENT </a:t>
            </a:r>
            <a:endParaRPr lang="zh-CN" altLang="en-US" sz="4250" b="0" i="0" u="none" strike="noStrike" kern="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pic>
        <p:nvPicPr>
          <p:cNvPr id="143" name="Image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76275" y="6467475"/>
            <a:ext cx="2143125" cy="20002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44" name="Rectangle"/>
          <p:cNvSpPr>
            <a:spLocks noGrp="1"/>
          </p:cNvSpPr>
          <p:nvPr>
            <p:ph type="sldNum" idx="7"/>
          </p:nvPr>
        </p:nvSpPr>
        <p:spPr>
          <a:xfrm rot="0">
            <a:off x="11353418" y="6473336"/>
            <a:ext cx="151129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4</a:t>
            </a:fld>
            <a:endParaRPr lang="zh-CN" altLang="en-US" sz="1100" b="0" i="0" u="none" strike="noStrike" kern="1200" cap="none" spc="10" baseline="0">
              <a:solidFill>
                <a:srgbClr val="2D936B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145" name="Rectangle" descr="*#TXT_SIGN#*"/>
          <p:cNvSpPr>
            <a:spLocks/>
          </p:cNvSpPr>
          <p:nvPr/>
        </p:nvSpPr>
        <p:spPr>
          <a:xfrm rot="0">
            <a:off x="1019169" y="1553683"/>
            <a:ext cx="8253047" cy="50101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Many people lack access to healthy and hygienic food options when dining out. 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Traditional restaurants often overlook nutrition and cleanliness. 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There's also a need for entrepreneurs to showcase their food ventures professionally. 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This project solves both by presenting Healthy Eats through a digital portfolio that highlights its health -focused mission and growth.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146" name="曲线"/>
          <p:cNvSpPr>
            <a:spLocks/>
          </p:cNvSpPr>
          <p:nvPr/>
        </p:nvSpPr>
        <p:spPr>
          <a:xfrm flipV="1" rot="21600000">
            <a:off x="8234253" y="783079"/>
            <a:ext cx="690657" cy="456186"/>
          </a:xfrm>
          <a:custGeom>
            <a:gdLst>
              <a:gd name="T1" fmla="*/ 0 w 21600"/>
              <a:gd name="T2" fmla="*/ -21600 h 21600"/>
              <a:gd name="T3" fmla="*/ 21600 w 21600"/>
              <a:gd name="T4" fmla="*/ 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879079355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Combination"/>
          <p:cNvGrpSpPr>
            <a:grpSpLocks/>
          </p:cNvGrpSpPr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156" name="曲线"/>
            <p:cNvSpPr>
              <a:spLocks/>
            </p:cNvSpPr>
            <p:nvPr/>
          </p:nvSpPr>
          <p:spPr>
            <a:xfrm rot="0">
              <a:off x="9353550" y="5362575"/>
              <a:ext cx="457199" cy="4572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157" name="曲线"/>
            <p:cNvSpPr>
              <a:spLocks/>
            </p:cNvSpPr>
            <p:nvPr/>
          </p:nvSpPr>
          <p:spPr>
            <a:xfrm rot="0">
              <a:off x="9353550" y="5895975"/>
              <a:ext cx="180975" cy="1809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  <p:pic>
          <p:nvPicPr>
            <p:cNvPr id="158" name="Image"/>
            <p:cNvPicPr>
              <a:picLocks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 rot="0">
              <a:off x="8658225" y="2647950"/>
              <a:ext cx="3533775" cy="381000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  <p:sp>
        <p:nvSpPr>
          <p:cNvPr id="160" name="Text box"/>
          <p:cNvSpPr>
            <a:spLocks noGrp="1"/>
          </p:cNvSpPr>
          <p:nvPr>
            <p:ph type="title"/>
          </p:nvPr>
        </p:nvSpPr>
        <p:spPr>
          <a:xfrm rot="0">
            <a:off x="676275" y="667704"/>
            <a:ext cx="5422263" cy="664208"/>
          </a:xfrm>
          <a:prstGeom prst="rect"/>
          <a:solidFill>
            <a:srgbClr val="8AAE3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/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  <a:tabLst>
                <a:tab pos="2642870" algn="l"/>
              </a:tabLst>
            </a:pPr>
            <a:r>
              <a:rPr lang="en-US" altLang="zh-CN" sz="4250" b="1" i="0" u="sng" strike="noStrike" kern="0" cap="none" spc="-2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PROJECT OVERVIEW </a:t>
            </a:r>
            <a:endParaRPr lang="zh-CN" altLang="en-US" sz="4250" b="0" i="0" u="none" strike="noStrike" kern="0" cap="none" spc="-2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pic>
        <p:nvPicPr>
          <p:cNvPr id="161" name="Image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76275" y="6467475"/>
            <a:ext cx="2143125" cy="20002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62" name="Rectangle"/>
          <p:cNvSpPr>
            <a:spLocks noGrp="1"/>
          </p:cNvSpPr>
          <p:nvPr>
            <p:ph type="sldNum" idx="7"/>
          </p:nvPr>
        </p:nvSpPr>
        <p:spPr>
          <a:xfrm rot="0">
            <a:off x="11353418" y="6473336"/>
            <a:ext cx="151129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5</a:t>
            </a:fld>
            <a:endParaRPr lang="zh-CN" altLang="en-US" sz="1100" b="0" i="0" u="none" strike="noStrike" kern="1200" cap="none" spc="10" baseline="0">
              <a:solidFill>
                <a:srgbClr val="2D936B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163" name="Rectangle" descr="*#TXT_SIGN#*"/>
          <p:cNvSpPr>
            <a:spLocks/>
          </p:cNvSpPr>
          <p:nvPr/>
        </p:nvSpPr>
        <p:spPr>
          <a:xfrm rot="0">
            <a:off x="1344071" y="1487011"/>
            <a:ext cx="8013871" cy="5867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★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This project is a digital Portfolio showcasing my journey as an entrepreneur and founder of Healthy Eats, a restuarant committed to providing healthy, hygienic, and nutritious meals.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●"/>
            </a:pP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★"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The portfolio highlights my background, business concept, operational strategies, key skills, and future vision.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★"/>
            </a:pPr>
            <a:endParaRPr lang="en-US" altLang="zh-CN" sz="3200" b="1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■"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894103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曲线"/>
          <p:cNvSpPr>
            <a:spLocks/>
          </p:cNvSpPr>
          <p:nvPr/>
        </p:nvSpPr>
        <p:spPr>
          <a:xfrm rot="0">
            <a:off x="9353550" y="5362575"/>
            <a:ext cx="457199" cy="4572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mpd="sng" cap="flat">
            <a:noFill/>
            <a:prstDash val="solid"/>
            <a:miter/>
          </a:ln>
        </p:spPr>
      </p:sp>
      <p:sp>
        <p:nvSpPr>
          <p:cNvPr id="174" name="曲线"/>
          <p:cNvSpPr>
            <a:spLocks/>
          </p:cNvSpPr>
          <p:nvPr/>
        </p:nvSpPr>
        <p:spPr>
          <a:xfrm rot="0">
            <a:off x="9353550" y="5895975"/>
            <a:ext cx="180975" cy="180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mpd="sng" cap="flat">
            <a:noFill/>
            <a:prstDash val="solid"/>
            <a:miter/>
          </a:ln>
        </p:spPr>
      </p:sp>
      <p:sp>
        <p:nvSpPr>
          <p:cNvPr id="175" name="Text box"/>
          <p:cNvSpPr>
            <a:spLocks noGrp="1"/>
          </p:cNvSpPr>
          <p:nvPr>
            <p:ph type="title"/>
          </p:nvPr>
        </p:nvSpPr>
        <p:spPr>
          <a:xfrm rot="0">
            <a:off x="381004" y="729870"/>
            <a:ext cx="7638921" cy="683260"/>
          </a:xfrm>
          <a:prstGeom prst="rect"/>
          <a:solidFill>
            <a:srgbClr val="18A8AD"/>
          </a:solidFill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4400" b="1" i="0" u="sng" strike="noStrike" kern="0" cap="none" spc="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WHO ARE THE END USERS?</a:t>
            </a:r>
            <a:endParaRPr lang="zh-CN" altLang="en-US" sz="4400" b="1" i="0" u="sng" strike="noStrike" kern="0" cap="none" spc="5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pic>
        <p:nvPicPr>
          <p:cNvPr id="176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723900" y="6172200"/>
            <a:ext cx="2181225" cy="485775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77" name="Rectangle"/>
          <p:cNvSpPr>
            <a:spLocks noGrp="1"/>
          </p:cNvSpPr>
          <p:nvPr>
            <p:ph type="sldNum" idx="7"/>
          </p:nvPr>
        </p:nvSpPr>
        <p:spPr>
          <a:xfrm rot="0">
            <a:off x="11353418" y="6473336"/>
            <a:ext cx="151129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6</a:t>
            </a:fld>
            <a:endParaRPr lang="zh-CN" altLang="en-US" sz="1100" b="0" i="0" u="none" strike="noStrike" kern="1200" cap="none" spc="10" baseline="0">
              <a:solidFill>
                <a:srgbClr val="2D936B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178" name="曲线"/>
          <p:cNvSpPr>
            <a:spLocks/>
          </p:cNvSpPr>
          <p:nvPr/>
        </p:nvSpPr>
        <p:spPr>
          <a:xfrm flipV="1" rot="17991250">
            <a:off x="8578993" y="758958"/>
            <a:ext cx="558927" cy="820240"/>
          </a:xfrm>
          <a:custGeom>
            <a:gdLst>
              <a:gd name="T1" fmla="*/ 0 w 21600"/>
              <a:gd name="T2" fmla="*/ -21600 h 21600"/>
              <a:gd name="T3" fmla="*/ 21600 w 21600"/>
              <a:gd name="T4" fmla="*/ 0 h 21600"/>
            </a:gdLst>
            <a:rect l="T1" t="T2" r="T3" b="T4"/>
            <a:pathLst>
              <a:path w="21600" h="21600">
                <a:moveTo>
                  <a:pt x="21093" y="0"/>
                </a:moveTo>
                <a:lnTo>
                  <a:pt x="0" y="0"/>
                </a:lnTo>
                <a:lnTo>
                  <a:pt x="0" y="21588"/>
                </a:lnTo>
                <a:lnTo>
                  <a:pt x="21093" y="21588"/>
                </a:lnTo>
                <a:lnTo>
                  <a:pt x="21093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  <p:sp>
        <p:nvSpPr>
          <p:cNvPr id="179" name="Rectangle" descr="*#TXT_SIGN#*"/>
          <p:cNvSpPr>
            <a:spLocks/>
          </p:cNvSpPr>
          <p:nvPr/>
        </p:nvSpPr>
        <p:spPr>
          <a:xfrm rot="0">
            <a:off x="1200074" y="1963253"/>
            <a:ext cx="8153475" cy="46958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◆"/>
            </a:pPr>
            <a:r>
              <a:rPr lang="en-US" altLang="zh-CN" sz="3600" b="0" i="0" u="none" strike="noStrike" kern="1200" cap="none" spc="0" baseline="0">
                <a:solidFill>
                  <a:srgbClr val="EC6542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Health-conscious customers </a:t>
            </a: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looking for clean and nutritious dining options. </a:t>
            </a:r>
            <a:r>
              <a:rPr lang="en-US" altLang="zh-CN" sz="2800" b="0" i="0" u="none" strike="noStrike" kern="1200" cap="none" spc="0" baseline="0">
                <a:solidFill>
                  <a:srgbClr val="E6622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 </a:t>
            </a:r>
            <a:endParaRPr lang="en-US" altLang="zh-CN" sz="2800" b="0" i="0" u="none" strike="noStrike" kern="1200" cap="none" spc="0" baseline="0">
              <a:solidFill>
                <a:srgbClr val="000000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◆"/>
            </a:pPr>
            <a:r>
              <a:rPr lang="en-US" altLang="zh-CN" sz="3600" b="0" i="0" u="none" strike="noStrike" kern="1200" cap="none" spc="0" baseline="0">
                <a:solidFill>
                  <a:srgbClr val="E6622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</a:t>
            </a:r>
            <a:r>
              <a:rPr lang="en-US" altLang="zh-CN" sz="3600" b="0" i="0" u="none" strike="noStrike" kern="1200" cap="none" spc="0" baseline="0">
                <a:solidFill>
                  <a:srgbClr val="E6622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Potential investors or business partners </a:t>
            </a: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interested in restaurant expansion.</a:t>
            </a:r>
            <a:endParaRPr lang="en-US" altLang="zh-CN" sz="2800" b="0" i="0" u="none" strike="noStrike" kern="1200" cap="none" spc="0" baseline="0">
              <a:solidFill>
                <a:srgbClr val="000000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◆"/>
            </a:pPr>
            <a:r>
              <a:rPr lang="en-US" altLang="zh-CN" sz="3600" b="0" i="0" u="none" strike="noStrike" kern="1200" cap="none" spc="0" baseline="0">
                <a:solidFill>
                  <a:srgbClr val="E6622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Franchise seekers </a:t>
            </a: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exploring healthy food business models.</a:t>
            </a:r>
            <a:endParaRPr lang="en-US" altLang="zh-CN" sz="2800" b="0" i="0" u="none" strike="noStrike" kern="1200" cap="none" spc="0" baseline="0">
              <a:solidFill>
                <a:srgbClr val="000000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◆"/>
            </a:pPr>
            <a:r>
              <a:rPr lang="en-US" altLang="zh-CN" sz="3600" b="0" i="0" u="none" strike="noStrike" kern="1200" cap="none" spc="0" baseline="0">
                <a:solidFill>
                  <a:srgbClr val="E6622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Job seekers </a:t>
            </a:r>
            <a:r>
              <a:rPr lang="en-US" altLang="zh-CN" sz="2800" b="0" i="0" u="none" strike="noStrike" kern="1200" cap="none" spc="0" baseline="0">
                <a:solidFill>
                  <a:srgbClr val="000000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interested in joining a health-focused restaurant team.</a:t>
            </a:r>
            <a:endParaRPr lang="en-US" altLang="zh-CN" sz="2800" b="0" i="0" u="none" strike="noStrike" kern="1200" cap="none" spc="0" baseline="0">
              <a:solidFill>
                <a:srgbClr val="000000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3600" b="0" i="0" u="none" strike="noStrike" kern="1200" cap="none" spc="0" baseline="0">
              <a:solidFill>
                <a:srgbClr val="E6622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6063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23823" y="2114540"/>
            <a:ext cx="2695574" cy="3248025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90" name="曲线"/>
          <p:cNvSpPr>
            <a:spLocks/>
          </p:cNvSpPr>
          <p:nvPr/>
        </p:nvSpPr>
        <p:spPr>
          <a:xfrm rot="0">
            <a:off x="9353550" y="5362575"/>
            <a:ext cx="457199" cy="4572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mpd="sng" cap="flat">
            <a:noFill/>
            <a:prstDash val="solid"/>
            <a:miter/>
          </a:ln>
        </p:spPr>
      </p:sp>
      <p:sp>
        <p:nvSpPr>
          <p:cNvPr id="191" name="曲线"/>
          <p:cNvSpPr>
            <a:spLocks/>
          </p:cNvSpPr>
          <p:nvPr/>
        </p:nvSpPr>
        <p:spPr>
          <a:xfrm rot="0">
            <a:off x="6696075" y="1695450"/>
            <a:ext cx="314324" cy="3238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  <p:sp>
        <p:nvSpPr>
          <p:cNvPr id="192" name="曲线"/>
          <p:cNvSpPr>
            <a:spLocks/>
          </p:cNvSpPr>
          <p:nvPr/>
        </p:nvSpPr>
        <p:spPr>
          <a:xfrm rot="0">
            <a:off x="9353550" y="5895975"/>
            <a:ext cx="180975" cy="180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mpd="sng" cap="flat">
            <a:noFill/>
            <a:prstDash val="solid"/>
            <a:miter/>
          </a:ln>
        </p:spPr>
      </p:sp>
      <p:sp>
        <p:nvSpPr>
          <p:cNvPr id="193" name="Text box"/>
          <p:cNvSpPr>
            <a:spLocks noGrp="1"/>
          </p:cNvSpPr>
          <p:nvPr>
            <p:ph type="title"/>
          </p:nvPr>
        </p:nvSpPr>
        <p:spPr>
          <a:xfrm rot="0">
            <a:off x="358143" y="619763"/>
            <a:ext cx="7321831" cy="680084"/>
          </a:xfrm>
          <a:prstGeom prst="rect"/>
          <a:solidFill>
            <a:srgbClr val="FFE8BF"/>
          </a:solidFill>
          <a:ln w="12700" cmpd="sng" cap="flat">
            <a:noFill/>
            <a:prstDash val="solid"/>
            <a:miter/>
          </a:ln>
        </p:spPr>
        <p:txBody>
          <a:bodyPr vert="horz" wrap="square" lIns="0" tIns="13334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4400" b="1" i="0" u="sng" strike="noStrike" kern="0" cap="none" spc="1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TOOLS AND TECHNIQUES </a:t>
            </a:r>
            <a:endParaRPr lang="zh-CN" altLang="en-US" sz="10800" b="1" i="0" u="sng" strike="noStrike" kern="0" cap="none" spc="1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pic>
        <p:nvPicPr>
          <p:cNvPr id="194" name="Image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76275" y="6467475"/>
            <a:ext cx="2143125" cy="20002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95" name="Rectangle"/>
          <p:cNvSpPr>
            <a:spLocks noGrp="1"/>
          </p:cNvSpPr>
          <p:nvPr>
            <p:ph type="sldNum" idx="7"/>
          </p:nvPr>
        </p:nvSpPr>
        <p:spPr>
          <a:xfrm rot="0">
            <a:off x="11353418" y="6473336"/>
            <a:ext cx="151129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7</a:t>
            </a:fld>
            <a:endParaRPr lang="zh-CN" altLang="en-US" sz="1100" b="0" i="0" u="none" strike="noStrike" kern="1200" cap="none" spc="10" baseline="0">
              <a:solidFill>
                <a:srgbClr val="2D936B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196" name="Rectangle" descr="*#TXT_SIGN#*"/>
          <p:cNvSpPr>
            <a:spLocks/>
          </p:cNvSpPr>
          <p:nvPr/>
        </p:nvSpPr>
        <p:spPr>
          <a:xfrm rot="0">
            <a:off x="3432040" y="2020403"/>
            <a:ext cx="5925903" cy="41338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HTML &amp; CSS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- for building the structure and styling the website.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●"/>
            </a:pP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Responsive Web Design -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for compatibility across  devices.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Basic SEO techniques -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to ensure online visibility.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Visual hierarchy and branding -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for clear,                                         appealing presentation.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716480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曲线"/>
          <p:cNvSpPr>
            <a:spLocks/>
          </p:cNvSpPr>
          <p:nvPr/>
        </p:nvSpPr>
        <p:spPr>
          <a:xfrm rot="0">
            <a:off x="9353550" y="5895975"/>
            <a:ext cx="180975" cy="180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mpd="sng" cap="flat">
            <a:noFill/>
            <a:prstDash val="solid"/>
            <a:miter/>
          </a:ln>
        </p:spPr>
      </p:sp>
      <p:pic>
        <p:nvPicPr>
          <p:cNvPr id="207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666874" y="6467475"/>
            <a:ext cx="76200" cy="17779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08" name="Rectangle"/>
          <p:cNvSpPr>
            <a:spLocks/>
          </p:cNvSpPr>
          <p:nvPr/>
        </p:nvSpPr>
        <p:spPr>
          <a:xfrm rot="0">
            <a:off x="11277218" y="6473336"/>
            <a:ext cx="228600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8</a:t>
            </a:fld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209" name="曲线"/>
          <p:cNvSpPr>
            <a:spLocks/>
          </p:cNvSpPr>
          <p:nvPr/>
        </p:nvSpPr>
        <p:spPr>
          <a:xfrm rot="0">
            <a:off x="10058401" y="525141"/>
            <a:ext cx="457200" cy="4572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mpd="sng" cap="flat">
            <a:noFill/>
            <a:prstDash val="solid"/>
            <a:miter/>
          </a:ln>
        </p:spPr>
      </p:sp>
      <p:sp>
        <p:nvSpPr>
          <p:cNvPr id="210" name="Rectangle" descr="*#TXT_SIGN#*"/>
          <p:cNvSpPr>
            <a:spLocks/>
          </p:cNvSpPr>
          <p:nvPr/>
        </p:nvSpPr>
        <p:spPr>
          <a:xfrm rot="0">
            <a:off x="467485" y="525001"/>
            <a:ext cx="8148475" cy="752473"/>
          </a:xfrm>
          <a:prstGeom prst="rect"/>
          <a:solidFill>
            <a:srgbClr val="FBCBC9"/>
          </a:solidFill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sng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PORTFOLIO DESIGN AND LAYOUT </a:t>
            </a:r>
            <a:endParaRPr lang="zh-CN" altLang="en-US" sz="4000" b="1" i="0" u="sng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211" name="Rectangle" descr="*#TXT_SIGN#*"/>
          <p:cNvSpPr>
            <a:spLocks/>
          </p:cNvSpPr>
          <p:nvPr/>
        </p:nvSpPr>
        <p:spPr>
          <a:xfrm rot="0">
            <a:off x="467485" y="1563210"/>
            <a:ext cx="8886064" cy="186689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       The portfolio is designed using 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HTML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and 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CSS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. The layout is structured into clear sections such as: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sp>
        <p:nvSpPr>
          <p:cNvPr id="212" name="Rectangle" descr="*#TXT_SIGN#*"/>
          <p:cNvSpPr>
            <a:spLocks/>
          </p:cNvSpPr>
          <p:nvPr/>
        </p:nvSpPr>
        <p:spPr>
          <a:xfrm rot="0">
            <a:off x="1666874" y="2496646"/>
            <a:ext cx="8858064" cy="40100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Header -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with name, title, brand introduction 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About me -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brief personal &amp; business background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Restaurant overview -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key facts and achievements 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My Role -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responsibilities &amp; contribution as entrepreneur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Skills -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highlighting core business &amp; leadership abilities 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Vision -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outlining future plans for growth 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●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contact -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with links to email, social media and website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238614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box"/>
          <p:cNvSpPr>
            <a:spLocks noGrp="1"/>
          </p:cNvSpPr>
          <p:nvPr>
            <p:ph type="title"/>
          </p:nvPr>
        </p:nvSpPr>
        <p:spPr>
          <a:xfrm rot="0">
            <a:off x="355288" y="585466"/>
            <a:ext cx="8302937" cy="683566"/>
          </a:xfrm>
          <a:prstGeom prst="rect"/>
          <a:solidFill>
            <a:srgbClr val="23E2BD"/>
          </a:solidFill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sng" strike="noStrike" kern="0" cap="none" spc="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FEATURES AND FUNCTIONALITY</a:t>
            </a:r>
            <a:endParaRPr lang="zh-CN" altLang="en-US" sz="4000" b="1" i="0" u="sng" strike="noStrike" kern="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223" name="Rectangle" descr="*#TXT_SIGN#*"/>
          <p:cNvSpPr>
            <a:spLocks/>
          </p:cNvSpPr>
          <p:nvPr/>
        </p:nvSpPr>
        <p:spPr>
          <a:xfrm rot="0">
            <a:off x="1272073" y="1734657"/>
            <a:ext cx="8257315" cy="44386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★"/>
            </a:pP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Responsive Design -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works smoothly on both desktop and mobile devices.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★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Clean Navigation -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clear, section-wise layout for easy user experience.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★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Contact Integration -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include clickable links for email, instagram and website.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★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Business Highlights -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showcases key achievements, services and customer reach.</a:t>
            </a: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★"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</a:t>
            </a: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Future Vision - </a:t>
            </a: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communicates goals such as expansion and franchising.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  <p:grpSp>
        <p:nvGrpSpPr>
          <p:cNvPr id="227" name="Combination"/>
          <p:cNvGrpSpPr>
            <a:grpSpLocks/>
          </p:cNvGrpSpPr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224" name="曲线"/>
            <p:cNvSpPr>
              <a:spLocks/>
            </p:cNvSpPr>
            <p:nvPr/>
          </p:nvSpPr>
          <p:spPr>
            <a:xfrm rot="0">
              <a:off x="9353550" y="5362575"/>
              <a:ext cx="457199" cy="45720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42AF51"/>
            </a:solidFill>
            <a:ln cmpd="sng" cap="flat">
              <a:noFill/>
              <a:prstDash val="solid"/>
              <a:miter/>
            </a:ln>
          </p:spPr>
        </p:sp>
        <p:sp>
          <p:nvSpPr>
            <p:cNvPr id="225" name="曲线"/>
            <p:cNvSpPr>
              <a:spLocks/>
            </p:cNvSpPr>
            <p:nvPr/>
          </p:nvSpPr>
          <p:spPr>
            <a:xfrm rot="0">
              <a:off x="9353550" y="5895975"/>
              <a:ext cx="180975" cy="18097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2D936B"/>
            </a:solidFill>
            <a:ln cmpd="sng" cap="flat">
              <a:noFill/>
              <a:prstDash val="solid"/>
              <a:miter/>
            </a:ln>
          </p:spPr>
        </p:sp>
        <p:pic>
          <p:nvPicPr>
            <p:cNvPr id="226" name="Image"/>
            <p:cNvPicPr>
              <a:picLocks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 rot="0">
              <a:off x="8658225" y="2647950"/>
              <a:ext cx="3533775" cy="3810000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pic>
      </p:grpSp>
    </p:spTree>
    <p:extLst>
      <p:ext uri="{BB962C8B-B14F-4D97-AF65-F5344CB8AC3E}">
        <p14:creationId xmlns:p14="http://schemas.microsoft.com/office/powerpoint/2010/main" val="1372660048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"/>
          <p:cNvSpPr>
            <a:spLocks/>
          </p:cNvSpPr>
          <p:nvPr/>
        </p:nvSpPr>
        <p:spPr>
          <a:xfrm rot="0">
            <a:off x="752474" y="6486037"/>
            <a:ext cx="1773554" cy="1663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2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3/21/202</a:t>
            </a:r>
            <a:r>
              <a:rPr lang="en-US" altLang="zh-CN" sz="1100" b="0" i="0" u="none" strike="noStrike" kern="1200" cap="none" spc="1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4</a:t>
            </a:r>
            <a:r>
              <a:rPr lang="en-US" altLang="zh-CN" sz="1100" b="0" i="0" u="none" strike="noStrike" kern="1200" cap="none" spc="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1100" b="0" i="0" u="none" strike="noStrike" kern="1200" cap="none" spc="13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1100" b="1" i="0" u="none" strike="noStrike" kern="1200" cap="none" spc="5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A</a:t>
            </a:r>
            <a:r>
              <a:rPr lang="en-US" altLang="zh-CN" sz="1100" b="1" i="0" u="none" strike="noStrike" kern="1200" cap="none" spc="1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nnu</a:t>
            </a:r>
            <a:r>
              <a:rPr lang="en-US" altLang="zh-CN" sz="1100" b="1" i="0" u="none" strike="noStrike" kern="1200" cap="none" spc="1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al</a:t>
            </a:r>
            <a:r>
              <a:rPr lang="en-US" altLang="zh-CN" sz="1100" b="1" i="0" u="none" strike="noStrike" kern="1200" cap="none" spc="-14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 </a:t>
            </a:r>
            <a:r>
              <a:rPr lang="en-US" altLang="zh-CN" sz="1100" b="1" i="0" u="none" strike="noStrike" kern="1200" cap="none" spc="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R</a:t>
            </a:r>
            <a:r>
              <a:rPr lang="en-US" altLang="zh-CN" sz="1100" b="1" i="0" u="none" strike="noStrike" kern="1200" cap="none" spc="3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</a:t>
            </a:r>
            <a:r>
              <a:rPr lang="en-US" altLang="zh-CN" sz="1100" b="1" i="0" u="none" strike="noStrike" kern="1200" cap="none" spc="90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v</a:t>
            </a:r>
            <a:r>
              <a:rPr lang="en-US" altLang="zh-CN" sz="1100" b="1" i="0" u="none" strike="noStrike" kern="1200" cap="none" spc="-3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i</a:t>
            </a:r>
            <a:r>
              <a:rPr lang="en-US" altLang="zh-CN" sz="1100" b="1" i="0" u="none" strike="noStrike" kern="1200" cap="none" spc="3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e</a:t>
            </a:r>
            <a:r>
              <a:rPr lang="en-US" altLang="zh-CN" sz="1100" b="1" i="0" u="none" strike="noStrike" kern="1200" cap="none" spc="15" baseline="0">
                <a:solidFill>
                  <a:srgbClr val="2D83C3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w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238" name="曲线"/>
          <p:cNvSpPr>
            <a:spLocks/>
          </p:cNvSpPr>
          <p:nvPr/>
        </p:nvSpPr>
        <p:spPr>
          <a:xfrm rot="0">
            <a:off x="9353550" y="5362575"/>
            <a:ext cx="457199" cy="4572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mpd="sng" cap="flat">
            <a:noFill/>
            <a:prstDash val="solid"/>
            <a:miter/>
          </a:ln>
        </p:spPr>
      </p:sp>
      <p:sp>
        <p:nvSpPr>
          <p:cNvPr id="239" name="曲线"/>
          <p:cNvSpPr>
            <a:spLocks/>
          </p:cNvSpPr>
          <p:nvPr/>
        </p:nvSpPr>
        <p:spPr>
          <a:xfrm rot="0">
            <a:off x="6696075" y="1695450"/>
            <a:ext cx="314324" cy="3238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  <p:sp>
        <p:nvSpPr>
          <p:cNvPr id="240" name="曲线"/>
          <p:cNvSpPr>
            <a:spLocks/>
          </p:cNvSpPr>
          <p:nvPr/>
        </p:nvSpPr>
        <p:spPr>
          <a:xfrm rot="0">
            <a:off x="9353550" y="5895975"/>
            <a:ext cx="180975" cy="180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mpd="sng" cap="flat">
            <a:noFill/>
            <a:prstDash val="solid"/>
            <a:miter/>
          </a:ln>
        </p:spPr>
      </p:sp>
      <p:pic>
        <p:nvPicPr>
          <p:cNvPr id="241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66675" y="3381373"/>
            <a:ext cx="2466975" cy="341947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42" name="Text box"/>
          <p:cNvSpPr>
            <a:spLocks noGrp="1"/>
          </p:cNvSpPr>
          <p:nvPr>
            <p:ph type="title"/>
          </p:nvPr>
        </p:nvSpPr>
        <p:spPr>
          <a:xfrm rot="0">
            <a:off x="756606" y="331092"/>
            <a:ext cx="8092125" cy="664206"/>
          </a:xfrm>
          <a:prstGeom prst="rect"/>
          <a:solidFill>
            <a:srgbClr val="E3C6F4"/>
          </a:solidFill>
          <a:ln w="12700" cmpd="sng" cap="flat">
            <a:noFill/>
            <a:prstDash val="solid"/>
            <a:miter/>
          </a:ln>
        </p:spPr>
        <p:txBody>
          <a:bodyPr vert="horz" wrap="square" lIns="0" tIns="16510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altLang="zh-CN" sz="4250" b="1" i="0" u="sng" strike="noStrike" kern="0" cap="none" spc="15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RESULTS AND SCREENSHOTS</a:t>
            </a:r>
            <a:endParaRPr lang="zh-CN" altLang="en-US" sz="4250" b="1" i="0" u="sng" strike="noStrike" kern="0" cap="none" spc="15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243" name="Rectangle"/>
          <p:cNvSpPr>
            <a:spLocks/>
          </p:cNvSpPr>
          <p:nvPr/>
        </p:nvSpPr>
        <p:spPr>
          <a:xfrm rot="0">
            <a:off x="11277218" y="6473336"/>
            <a:ext cx="228600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10</a:t>
            </a:fld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244" name="Rectangle"/>
          <p:cNvSpPr>
            <a:spLocks/>
          </p:cNvSpPr>
          <p:nvPr/>
        </p:nvSpPr>
        <p:spPr>
          <a:xfrm rot="0">
            <a:off x="2743200" y="2354703"/>
            <a:ext cx="8534019" cy="94868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2800" b="0" i="0" u="none" strike="noStrike" kern="1200" cap="none" spc="0" baseline="0">
              <a:solidFill>
                <a:srgbClr val="0D0D0D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</p:txBody>
      </p:sp>
      <p:pic>
        <p:nvPicPr>
          <p:cNvPr id="245" name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2743200" y="1269033"/>
            <a:ext cx="5909652" cy="5303117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668915448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 box" descr="Double tap to add title&#13;"/>
          <p:cNvSpPr>
            <a:spLocks noGrp="1"/>
          </p:cNvSpPr>
          <p:nvPr>
            <p:ph type="title"/>
          </p:nvPr>
        </p:nvSpPr>
        <p:spPr>
          <a:xfrm rot="0">
            <a:off x="755332" y="385444"/>
            <a:ext cx="10681335" cy="2667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endParaRPr lang="zh-CN" altLang="en-US"/>
          </a:p>
        </p:txBody>
      </p:sp>
      <p:sp>
        <p:nvSpPr>
          <p:cNvPr id="272" name="Text box" descr="Double tap to add text here&#13;"/>
          <p:cNvSpPr>
            <a:spLocks noGrp="1"/>
          </p:cNvSpPr>
          <p:nvPr>
            <p:ph type="body" idx="1"/>
          </p:nvPr>
        </p:nvSpPr>
        <p:spPr>
          <a:xfrm rot="0">
            <a:off x="609590" y="1601975"/>
            <a:ext cx="10977433" cy="45287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pic>
        <p:nvPicPr>
          <p:cNvPr id="273" name="Image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755332" y="556891"/>
            <a:ext cx="3305776" cy="5735777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274" name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4450889" y="571491"/>
            <a:ext cx="3305895" cy="5714913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275" name="Image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8146533" y="571491"/>
            <a:ext cx="3290035" cy="5714913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24942187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曲线"/>
          <p:cNvSpPr>
            <a:spLocks/>
          </p:cNvSpPr>
          <p:nvPr/>
        </p:nvSpPr>
        <p:spPr>
          <a:xfrm rot="0">
            <a:off x="9353550" y="5362575"/>
            <a:ext cx="457199" cy="4572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2AF51"/>
          </a:solidFill>
          <a:ln cmpd="sng" cap="flat">
            <a:noFill/>
            <a:prstDash val="solid"/>
            <a:miter/>
          </a:ln>
        </p:spPr>
      </p:sp>
      <p:sp>
        <p:nvSpPr>
          <p:cNvPr id="256" name="曲线"/>
          <p:cNvSpPr>
            <a:spLocks/>
          </p:cNvSpPr>
          <p:nvPr/>
        </p:nvSpPr>
        <p:spPr>
          <a:xfrm rot="0">
            <a:off x="6696075" y="1695450"/>
            <a:ext cx="314324" cy="32385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83C3"/>
          </a:solidFill>
          <a:ln cmpd="sng" cap="flat">
            <a:noFill/>
            <a:prstDash val="solid"/>
            <a:miter/>
          </a:ln>
        </p:spPr>
      </p:sp>
      <p:sp>
        <p:nvSpPr>
          <p:cNvPr id="257" name="曲线"/>
          <p:cNvSpPr>
            <a:spLocks/>
          </p:cNvSpPr>
          <p:nvPr/>
        </p:nvSpPr>
        <p:spPr>
          <a:xfrm rot="0">
            <a:off x="9353550" y="5895975"/>
            <a:ext cx="180975" cy="180975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2D936B"/>
          </a:solidFill>
          <a:ln cmpd="sng" cap="flat">
            <a:noFill/>
            <a:prstDash val="solid"/>
            <a:miter/>
          </a:ln>
        </p:spPr>
      </p:sp>
      <p:pic>
        <p:nvPicPr>
          <p:cNvPr id="258" name="Image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666874" y="6467475"/>
            <a:ext cx="76200" cy="17779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59" name="Text box"/>
          <p:cNvSpPr>
            <a:spLocks noGrp="1"/>
          </p:cNvSpPr>
          <p:nvPr>
            <p:ph type="title"/>
          </p:nvPr>
        </p:nvSpPr>
        <p:spPr>
          <a:xfrm rot="0">
            <a:off x="460061" y="385444"/>
            <a:ext cx="3828691" cy="737235"/>
          </a:xfrm>
          <a:prstGeom prst="rect"/>
          <a:solidFill>
            <a:srgbClr val="C0AE2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13334" rIns="0" bIns="0" anchor="t" anchorCtr="0">
            <a:prstTxWarp prst="textNoShape"/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4800" b="1" i="0" u="sng" strike="noStrike" kern="0" cap="none" spc="0" baseline="0">
                <a:solidFill>
                  <a:schemeClr val="tx1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CONCLUSION</a:t>
            </a:r>
            <a:endParaRPr lang="zh-CN" altLang="en-US" sz="4800" b="1" i="0" u="sng" strike="noStrike" kern="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260" name="Rectangle"/>
          <p:cNvSpPr>
            <a:spLocks/>
          </p:cNvSpPr>
          <p:nvPr/>
        </p:nvSpPr>
        <p:spPr>
          <a:xfrm rot="0">
            <a:off x="11277218" y="6473336"/>
            <a:ext cx="228600" cy="1689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6985" rIns="0" bIns="0" anchor="t" anchorCtr="0">
            <a:prstTxWarp prst="textNoShape"/>
            <a:spAutoFit/>
          </a:bodyPr>
          <a:lstStyle/>
          <a:p>
            <a:pPr marL="38100" indent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100" b="0" i="0" u="none" strike="noStrike" kern="1200" cap="none" spc="10" baseline="0">
                <a:solidFill>
                  <a:srgbClr val="2D936B"/>
                </a:solidFill>
                <a:latin typeface="Trebuchet MS" pitchFamily="0" charset="0"/>
                <a:ea typeface="宋体" pitchFamily="0" charset="0"/>
                <a:cs typeface="Trebuchet MS" pitchFamily="0" charset="0"/>
              </a:rPr>
              <a:t>12</a:t>
            </a:fld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宋体" pitchFamily="0" charset="0"/>
              <a:cs typeface="Trebuchet MS" pitchFamily="0" charset="0"/>
            </a:endParaRPr>
          </a:p>
        </p:txBody>
      </p:sp>
      <p:sp>
        <p:nvSpPr>
          <p:cNvPr id="261" name="Rectangle" descr="*#TXT_SIGN#*"/>
          <p:cNvSpPr>
            <a:spLocks/>
          </p:cNvSpPr>
          <p:nvPr/>
        </p:nvSpPr>
        <p:spPr>
          <a:xfrm rot="21597954">
            <a:off x="942078" y="1134114"/>
            <a:ext cx="8862839" cy="55816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◆"/>
            </a:pPr>
            <a:r>
              <a:rPr lang="en-US" altLang="zh-CN" sz="36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This portfolio highlights my journey as the founder of Healthy Eats, showcasing my focus on healthy, hygienic food and strong business values. </a:t>
            </a:r>
            <a:endParaRPr lang="en-US" altLang="zh-CN" sz="36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◆"/>
            </a:pPr>
            <a:r>
              <a:rPr lang="en-US" altLang="zh-CN" sz="36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It helps build my professional identity and opens doors for future growth and opportunities.</a:t>
            </a:r>
            <a:endParaRPr lang="en-US" altLang="zh-CN" sz="36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pitchFamily="0" charset="0"/>
              <a:buChar char="◆"/>
            </a:pPr>
            <a:r>
              <a:rPr lang="en-US" altLang="zh-CN" sz="36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 It supports society by encouraging healthy eating, hygiene and sustainable food practices.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3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618</TotalTime>
  <Application>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Face Mask Detection using Convolutional Neural Network (CNN)  </dc:title>
  <dc:creator>Konduru Narasimha</dc:creator>
  <cp:lastModifiedBy>Mobile phone user</cp:lastModifiedBy>
  <cp:revision>22</cp:revision>
  <dcterms:created xsi:type="dcterms:W3CDTF">2024-03-29T15:07:22Z</dcterms:created>
  <dcterms:modified xsi:type="dcterms:W3CDTF">2025-08-29T11:18:33Z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Created">
    <vt:filetime>2024-03-20T16:00:00Z</vt:filetime>
  </property>
  <property fmtid="{D5CDD505-2E9C-101B-9397-08002B2CF9AE}" pid="3" name="LastSaved">
    <vt:filetime>2024-03-28T16:00:00Z</vt:filetime>
  </property>
</Properties>
</file>